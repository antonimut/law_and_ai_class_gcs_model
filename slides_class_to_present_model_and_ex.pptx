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62" r:id="rId2"/>
    <p:sldId id="256" r:id="rId3"/>
    <p:sldId id="257" r:id="rId4"/>
    <p:sldId id="258" r:id="rId5"/>
    <p:sldId id="259" r:id="rId6"/>
    <p:sldId id="260" r:id="rId7"/>
    <p:sldId id="261" r:id="rId8"/>
    <p:sldId id="264" r:id="rId9"/>
    <p:sldId id="266" r:id="rId10"/>
    <p:sldId id="263" r:id="rId11"/>
    <p:sldId id="269" r:id="rId12"/>
    <p:sldId id="270" r:id="rId13"/>
    <p:sldId id="271" r:id="rId1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7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21" autoAdjust="0"/>
    <p:restoredTop sz="94660"/>
  </p:normalViewPr>
  <p:slideViewPr>
    <p:cSldViewPr snapToGrid="0">
      <p:cViewPr varScale="1">
        <p:scale>
          <a:sx n="51" d="100"/>
          <a:sy n="51" d="100"/>
        </p:scale>
        <p:origin x="120" y="10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t Piña, A. (Antoni)" userId="291347d8-70ff-4842-90d1-1a800b3170cf" providerId="ADAL" clId="{FB1B98C9-30E3-44D7-A524-14305B647BB5}"/>
    <pc:docChg chg="undo custSel addSld modSld">
      <pc:chgData name="Mut Piña, A. (Antoni)" userId="291347d8-70ff-4842-90d1-1a800b3170cf" providerId="ADAL" clId="{FB1B98C9-30E3-44D7-A524-14305B647BB5}" dt="2025-04-22T10:54:41.783" v="168" actId="1076"/>
      <pc:docMkLst>
        <pc:docMk/>
      </pc:docMkLst>
      <pc:sldChg chg="delSp modSp mod">
        <pc:chgData name="Mut Piña, A. (Antoni)" userId="291347d8-70ff-4842-90d1-1a800b3170cf" providerId="ADAL" clId="{FB1B98C9-30E3-44D7-A524-14305B647BB5}" dt="2025-04-15T13:47:10.990" v="167" actId="21"/>
        <pc:sldMkLst>
          <pc:docMk/>
          <pc:sldMk cId="2929214075" sldId="262"/>
        </pc:sldMkLst>
        <pc:spChg chg="mod">
          <ac:chgData name="Mut Piña, A. (Antoni)" userId="291347d8-70ff-4842-90d1-1a800b3170cf" providerId="ADAL" clId="{FB1B98C9-30E3-44D7-A524-14305B647BB5}" dt="2025-04-15T13:40:28.995" v="165" actId="14100"/>
          <ac:spMkLst>
            <pc:docMk/>
            <pc:sldMk cId="2929214075" sldId="262"/>
            <ac:spMk id="2" creationId="{8DCFA388-86FA-C250-88A0-1672723110C3}"/>
          </ac:spMkLst>
        </pc:spChg>
        <pc:spChg chg="mod">
          <ac:chgData name="Mut Piña, A. (Antoni)" userId="291347d8-70ff-4842-90d1-1a800b3170cf" providerId="ADAL" clId="{FB1B98C9-30E3-44D7-A524-14305B647BB5}" dt="2025-04-15T13:47:10.990" v="167" actId="21"/>
          <ac:spMkLst>
            <pc:docMk/>
            <pc:sldMk cId="2929214075" sldId="262"/>
            <ac:spMk id="3" creationId="{FA9FE9C6-C2A6-1F92-7764-250F93D62386}"/>
          </ac:spMkLst>
        </pc:spChg>
      </pc:sldChg>
      <pc:sldChg chg="modSp mod">
        <pc:chgData name="Mut Piña, A. (Antoni)" userId="291347d8-70ff-4842-90d1-1a800b3170cf" providerId="ADAL" clId="{FB1B98C9-30E3-44D7-A524-14305B647BB5}" dt="2025-04-22T10:54:41.783" v="168" actId="1076"/>
        <pc:sldMkLst>
          <pc:docMk/>
          <pc:sldMk cId="394726617" sldId="263"/>
        </pc:sldMkLst>
        <pc:picChg chg="mod">
          <ac:chgData name="Mut Piña, A. (Antoni)" userId="291347d8-70ff-4842-90d1-1a800b3170cf" providerId="ADAL" clId="{FB1B98C9-30E3-44D7-A524-14305B647BB5}" dt="2025-04-22T10:54:41.783" v="168" actId="1076"/>
          <ac:picMkLst>
            <pc:docMk/>
            <pc:sldMk cId="394726617" sldId="263"/>
            <ac:picMk id="13" creationId="{CEAFFC86-1D6B-B9D5-BB70-A61E2C427532}"/>
          </ac:picMkLst>
        </pc:picChg>
      </pc:sldChg>
      <pc:sldChg chg="modSp new mod">
        <pc:chgData name="Mut Piña, A. (Antoni)" userId="291347d8-70ff-4842-90d1-1a800b3170cf" providerId="ADAL" clId="{FB1B98C9-30E3-44D7-A524-14305B647BB5}" dt="2025-04-15T13:32:43.451" v="81"/>
        <pc:sldMkLst>
          <pc:docMk/>
          <pc:sldMk cId="1181750169" sldId="271"/>
        </pc:sldMkLst>
        <pc:spChg chg="mod">
          <ac:chgData name="Mut Piña, A. (Antoni)" userId="291347d8-70ff-4842-90d1-1a800b3170cf" providerId="ADAL" clId="{FB1B98C9-30E3-44D7-A524-14305B647BB5}" dt="2025-04-15T13:32:37.972" v="80" actId="20577"/>
          <ac:spMkLst>
            <pc:docMk/>
            <pc:sldMk cId="1181750169" sldId="271"/>
            <ac:spMk id="2" creationId="{E99F5C65-8930-EB9A-3B76-A8C31300B298}"/>
          </ac:spMkLst>
        </pc:spChg>
        <pc:spChg chg="mod">
          <ac:chgData name="Mut Piña, A. (Antoni)" userId="291347d8-70ff-4842-90d1-1a800b3170cf" providerId="ADAL" clId="{FB1B98C9-30E3-44D7-A524-14305B647BB5}" dt="2025-04-15T13:32:43.451" v="81"/>
          <ac:spMkLst>
            <pc:docMk/>
            <pc:sldMk cId="1181750169" sldId="271"/>
            <ac:spMk id="3" creationId="{29A85C0B-2DA7-531A-1328-4835F9DC0F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D6BED9-84D1-41B7-B374-9C73D26F7ED5}" type="datetimeFigureOut">
              <a:rPr lang="en-US" smtClean="0"/>
              <a:t>4/22/2025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83E0FC-64DC-4A8E-98C7-43F6B9121FFD}" type="slidenum">
              <a:rPr lang="en-US" smtClean="0"/>
              <a:t>‹#›</a:t>
            </a:fld>
            <a:endParaRPr lang="en-US"/>
          </a:p>
        </p:txBody>
      </p:sp>
    </p:spTree>
    <p:extLst>
      <p:ext uri="{BB962C8B-B14F-4D97-AF65-F5344CB8AC3E}">
        <p14:creationId xmlns:p14="http://schemas.microsoft.com/office/powerpoint/2010/main" val="2251566944"/>
      </p:ext>
    </p:extLst>
  </p:cSld>
  <p:clrMap bg1="lt1" tx1="dk1" bg2="lt2" tx2="dk2" accent1="accent1" accent2="accent2" accent3="accent3" accent4="accent4" accent5="accent5" accent6="accent6" hlink="hlink" folHlink="folHlink"/>
  <p:notesStyle>
    <a:lvl1pPr marL="0" algn="l" defTabSz="1097280" rtl="0" eaLnBrk="1" latinLnBrk="0" hangingPunct="1">
      <a:defRPr sz="1440" kern="1200">
        <a:solidFill>
          <a:schemeClr val="tx1"/>
        </a:solidFill>
        <a:latin typeface="+mn-lt"/>
        <a:ea typeface="+mn-ea"/>
        <a:cs typeface="+mn-cs"/>
      </a:defRPr>
    </a:lvl1pPr>
    <a:lvl2pPr marL="548640" algn="l" defTabSz="1097280" rtl="0" eaLnBrk="1" latinLnBrk="0" hangingPunct="1">
      <a:defRPr sz="1440" kern="1200">
        <a:solidFill>
          <a:schemeClr val="tx1"/>
        </a:solidFill>
        <a:latin typeface="+mn-lt"/>
        <a:ea typeface="+mn-ea"/>
        <a:cs typeface="+mn-cs"/>
      </a:defRPr>
    </a:lvl2pPr>
    <a:lvl3pPr marL="1097280" algn="l" defTabSz="1097280" rtl="0" eaLnBrk="1" latinLnBrk="0" hangingPunct="1">
      <a:defRPr sz="1440" kern="1200">
        <a:solidFill>
          <a:schemeClr val="tx1"/>
        </a:solidFill>
        <a:latin typeface="+mn-lt"/>
        <a:ea typeface="+mn-ea"/>
        <a:cs typeface="+mn-cs"/>
      </a:defRPr>
    </a:lvl3pPr>
    <a:lvl4pPr marL="1645920" algn="l" defTabSz="1097280" rtl="0" eaLnBrk="1" latinLnBrk="0" hangingPunct="1">
      <a:defRPr sz="1440" kern="1200">
        <a:solidFill>
          <a:schemeClr val="tx1"/>
        </a:solidFill>
        <a:latin typeface="+mn-lt"/>
        <a:ea typeface="+mn-ea"/>
        <a:cs typeface="+mn-cs"/>
      </a:defRPr>
    </a:lvl4pPr>
    <a:lvl5pPr marL="2194560" algn="l" defTabSz="1097280" rtl="0" eaLnBrk="1" latinLnBrk="0" hangingPunct="1">
      <a:defRPr sz="1440" kern="1200">
        <a:solidFill>
          <a:schemeClr val="tx1"/>
        </a:solidFill>
        <a:latin typeface="+mn-lt"/>
        <a:ea typeface="+mn-ea"/>
        <a:cs typeface="+mn-cs"/>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83E0FC-64DC-4A8E-98C7-43F6B9121FFD}" type="slidenum">
              <a:rPr lang="en-US" smtClean="0"/>
              <a:t>3</a:t>
            </a:fld>
            <a:endParaRPr lang="en-US"/>
          </a:p>
        </p:txBody>
      </p:sp>
    </p:spTree>
    <p:extLst>
      <p:ext uri="{BB962C8B-B14F-4D97-AF65-F5344CB8AC3E}">
        <p14:creationId xmlns:p14="http://schemas.microsoft.com/office/powerpoint/2010/main" val="4233833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94027E-EA6D-45AF-BA06-8666C1367B62}"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210352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4027E-EA6D-45AF-BA06-8666C1367B62}"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1110521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94027E-EA6D-45AF-BA06-8666C1367B62}"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1409271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94027E-EA6D-45AF-BA06-8666C1367B62}"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3647842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94027E-EA6D-45AF-BA06-8666C1367B62}"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1198775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94027E-EA6D-45AF-BA06-8666C1367B62}"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2445291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4027E-EA6D-45AF-BA06-8666C1367B62}"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64852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B94027E-EA6D-45AF-BA06-8666C1367B62}"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755280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B94027E-EA6D-45AF-BA06-8666C1367B62}"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759176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4027E-EA6D-45AF-BA06-8666C1367B62}"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3274253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4027E-EA6D-45AF-BA06-8666C1367B62}"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687C3-C20A-4178-857D-200E91EB6B6E}" type="slidenum">
              <a:rPr lang="en-US" smtClean="0"/>
              <a:t>‹#›</a:t>
            </a:fld>
            <a:endParaRPr lang="en-US"/>
          </a:p>
        </p:txBody>
      </p:sp>
    </p:spTree>
    <p:extLst>
      <p:ext uri="{BB962C8B-B14F-4D97-AF65-F5344CB8AC3E}">
        <p14:creationId xmlns:p14="http://schemas.microsoft.com/office/powerpoint/2010/main" val="3399323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9B94027E-EA6D-45AF-BA06-8666C1367B62}" type="datetimeFigureOut">
              <a:rPr lang="en-US" smtClean="0"/>
              <a:t>4/22/2025</a:t>
            </a:fld>
            <a:endParaRPr lang="en-US"/>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D56687C3-C20A-4178-857D-200E91EB6B6E}" type="slidenum">
              <a:rPr lang="en-US" smtClean="0"/>
              <a:t>‹#›</a:t>
            </a:fld>
            <a:endParaRPr lang="en-US"/>
          </a:p>
        </p:txBody>
      </p:sp>
    </p:spTree>
    <p:extLst>
      <p:ext uri="{BB962C8B-B14F-4D97-AF65-F5344CB8AC3E}">
        <p14:creationId xmlns:p14="http://schemas.microsoft.com/office/powerpoint/2010/main" val="37435689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jp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hyperlink" Target="https://svgsilh.com/image/2022398.html"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hyperlink" Target="http://localhost:8888/notebooks/OneDrive%20-%20Universiteit%20Leiden%2FDesktop%2Fmodel_AI%2FGCS_Law_and_AI.ipynb" TargetMode="External"/><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xml"/><Relationship Id="rId5" Type="http://schemas.openxmlformats.org/officeDocument/2006/relationships/image" Target="../media/image17.jp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E77FC-BEE6-53A1-3BA0-106847A0C6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DCFA388-86FA-C250-88A0-1672723110C3}"/>
              </a:ext>
            </a:extLst>
          </p:cNvPr>
          <p:cNvSpPr/>
          <p:nvPr/>
        </p:nvSpPr>
        <p:spPr>
          <a:xfrm>
            <a:off x="-601478" y="-440875"/>
            <a:ext cx="15885021" cy="8931731"/>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A9FE9C6-C2A6-1F92-7764-250F93D62386}"/>
              </a:ext>
            </a:extLst>
          </p:cNvPr>
          <p:cNvSpPr txBox="1"/>
          <p:nvPr/>
        </p:nvSpPr>
        <p:spPr>
          <a:xfrm>
            <a:off x="579893" y="555822"/>
            <a:ext cx="12482964" cy="6478697"/>
          </a:xfrm>
          <a:prstGeom prst="rect">
            <a:avLst/>
          </a:prstGeom>
          <a:noFill/>
        </p:spPr>
        <p:txBody>
          <a:bodyPr wrap="square" rtlCol="0">
            <a:spAutoFit/>
          </a:bodyPr>
          <a:lstStyle/>
          <a:p>
            <a:r>
              <a:rPr lang="en-US" sz="5500" b="1" dirty="0">
                <a:solidFill>
                  <a:schemeClr val="tx2"/>
                </a:solidFill>
                <a:latin typeface="Consolas" panose="020B0609020204030204" pitchFamily="49" charset="0"/>
              </a:rPr>
              <a:t>Gender Classification System</a:t>
            </a:r>
          </a:p>
          <a:p>
            <a:endParaRPr lang="en-US" sz="3600" dirty="0">
              <a:solidFill>
                <a:schemeClr val="tx2"/>
              </a:solidFill>
              <a:latin typeface="Consolas" panose="020B0609020204030204" pitchFamily="49" charset="0"/>
            </a:endParaRPr>
          </a:p>
          <a:p>
            <a:r>
              <a:rPr lang="en-US" sz="2800" b="1" dirty="0">
                <a:solidFill>
                  <a:schemeClr val="tx2"/>
                </a:solidFill>
                <a:latin typeface="Consolas" panose="020B0609020204030204" pitchFamily="49" charset="0"/>
              </a:rPr>
              <a:t>What is a GCS?</a:t>
            </a:r>
          </a:p>
          <a:p>
            <a:pPr marL="457200" indent="-457200">
              <a:buFont typeface="Arial" panose="020B0604020202020204" pitchFamily="34" charset="0"/>
              <a:buChar char="•"/>
            </a:pPr>
            <a:r>
              <a:rPr lang="en-US" sz="2400" dirty="0">
                <a:solidFill>
                  <a:schemeClr val="tx2"/>
                </a:solidFill>
                <a:latin typeface="Consolas" panose="020B0609020204030204" pitchFamily="49" charset="0"/>
              </a:rPr>
              <a:t>A GCS is a system designed to </a:t>
            </a:r>
            <a:r>
              <a:rPr lang="en-US" sz="2400" b="1" dirty="0">
                <a:solidFill>
                  <a:schemeClr val="tx2"/>
                </a:solidFill>
                <a:latin typeface="Consolas" panose="020B0609020204030204" pitchFamily="49" charset="0"/>
              </a:rPr>
              <a:t>determine a person's gender</a:t>
            </a:r>
            <a:r>
              <a:rPr lang="en-US" sz="2400" dirty="0">
                <a:solidFill>
                  <a:schemeClr val="tx2"/>
                </a:solidFill>
                <a:latin typeface="Consolas" panose="020B0609020204030204" pitchFamily="49" charset="0"/>
              </a:rPr>
              <a:t>, typically using biometric cues like facial features or voice (Guo, 2015). </a:t>
            </a:r>
          </a:p>
          <a:p>
            <a:pPr marL="457200" indent="-457200">
              <a:buFont typeface="Arial" panose="020B0604020202020204" pitchFamily="34" charset="0"/>
              <a:buChar char="•"/>
            </a:pPr>
            <a:r>
              <a:rPr lang="en-US" sz="2400" dirty="0">
                <a:solidFill>
                  <a:schemeClr val="tx2"/>
                </a:solidFill>
                <a:latin typeface="Consolas" panose="020B0609020204030204" pitchFamily="49" charset="0"/>
              </a:rPr>
              <a:t>Facial images are used to extract features and then a classifier is applied to the extracted features to learn a gender recognizer.</a:t>
            </a:r>
          </a:p>
          <a:p>
            <a:pPr marL="457200" indent="-457200">
              <a:buFont typeface="Arial" panose="020B0604020202020204" pitchFamily="34" charset="0"/>
              <a:buChar char="•"/>
            </a:pPr>
            <a:r>
              <a:rPr lang="en-US" sz="2400" dirty="0">
                <a:solidFill>
                  <a:schemeClr val="tx2"/>
                </a:solidFill>
                <a:latin typeface="Consolas" panose="020B0609020204030204" pitchFamily="49" charset="0"/>
              </a:rPr>
              <a:t>The gender classification result is often a binary value, e.g., 1 or 0, representing either male or female. </a:t>
            </a:r>
          </a:p>
          <a:p>
            <a:pPr marL="457200" indent="-457200">
              <a:buFont typeface="Arial" panose="020B0604020202020204" pitchFamily="34" charset="0"/>
              <a:buChar char="•"/>
            </a:pPr>
            <a:r>
              <a:rPr lang="en-US" sz="2400" dirty="0">
                <a:solidFill>
                  <a:schemeClr val="tx2"/>
                </a:solidFill>
                <a:latin typeface="Consolas" panose="020B0609020204030204" pitchFamily="49" charset="0"/>
              </a:rPr>
              <a:t>Gender recognition is essentially a two-class classification problem. </a:t>
            </a:r>
          </a:p>
          <a:p>
            <a:pPr marL="457200" indent="-457200">
              <a:buFont typeface="Arial" panose="020B0604020202020204" pitchFamily="34" charset="0"/>
              <a:buChar char="•"/>
            </a:pPr>
            <a:r>
              <a:rPr lang="en-US" sz="2400" dirty="0">
                <a:solidFill>
                  <a:schemeClr val="tx2"/>
                </a:solidFill>
                <a:latin typeface="Consolas" panose="020B0609020204030204" pitchFamily="49" charset="0"/>
              </a:rPr>
              <a:t>Although other biometric traits could also be used for gender classification, such as gait, face-based approaches are still the most popular for gender discrimination.</a:t>
            </a:r>
          </a:p>
          <a:p>
            <a:pPr marL="457200" indent="-457200">
              <a:buFont typeface="Arial" panose="020B0604020202020204" pitchFamily="34" charset="0"/>
              <a:buChar char="•"/>
            </a:pPr>
            <a:endParaRPr lang="en-US" sz="2800" dirty="0">
              <a:solidFill>
                <a:schemeClr val="tx2"/>
              </a:solidFill>
              <a:latin typeface="Consolas" panose="020B0609020204030204" pitchFamily="49" charset="0"/>
            </a:endParaRPr>
          </a:p>
          <a:p>
            <a:pPr lvl="1"/>
            <a:endParaRPr lang="en-US" sz="2800" dirty="0">
              <a:solidFill>
                <a:schemeClr val="tx2"/>
              </a:solidFill>
              <a:latin typeface="Consolas" panose="020B0609020204030204" pitchFamily="49" charset="0"/>
            </a:endParaRPr>
          </a:p>
        </p:txBody>
      </p:sp>
    </p:spTree>
    <p:extLst>
      <p:ext uri="{BB962C8B-B14F-4D97-AF65-F5344CB8AC3E}">
        <p14:creationId xmlns:p14="http://schemas.microsoft.com/office/powerpoint/2010/main" val="2929214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9CF68101-9266-99A6-F08D-5A27133FAB98}"/>
              </a:ext>
            </a:extLst>
          </p:cNvPr>
          <p:cNvGrpSpPr/>
          <p:nvPr/>
        </p:nvGrpSpPr>
        <p:grpSpPr>
          <a:xfrm>
            <a:off x="10901765" y="0"/>
            <a:ext cx="3728635" cy="8229600"/>
            <a:chOff x="10887105" y="0"/>
            <a:chExt cx="3728635" cy="8229600"/>
          </a:xfrm>
        </p:grpSpPr>
        <p:sp>
          <p:nvSpPr>
            <p:cNvPr id="22" name="Rectangle 21">
              <a:extLst>
                <a:ext uri="{FF2B5EF4-FFF2-40B4-BE49-F238E27FC236}">
                  <a16:creationId xmlns:a16="http://schemas.microsoft.com/office/drawing/2014/main" id="{8ADD7D78-7157-B223-67F7-FDBC43CF3CAA}"/>
                </a:ext>
              </a:extLst>
            </p:cNvPr>
            <p:cNvSpPr/>
            <p:nvPr/>
          </p:nvSpPr>
          <p:spPr>
            <a:xfrm>
              <a:off x="10887105" y="0"/>
              <a:ext cx="3728635" cy="82296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Gender with solid fill">
              <a:extLst>
                <a:ext uri="{FF2B5EF4-FFF2-40B4-BE49-F238E27FC236}">
                  <a16:creationId xmlns:a16="http://schemas.microsoft.com/office/drawing/2014/main" id="{55F7F34E-89EA-61FF-E274-CE657ECBFF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21630" y="2406762"/>
              <a:ext cx="2459584" cy="2459584"/>
            </a:xfrm>
            <a:prstGeom prst="rect">
              <a:avLst/>
            </a:prstGeom>
          </p:spPr>
        </p:pic>
        <p:sp>
          <p:nvSpPr>
            <p:cNvPr id="11" name="TextBox 10">
              <a:extLst>
                <a:ext uri="{FF2B5EF4-FFF2-40B4-BE49-F238E27FC236}">
                  <a16:creationId xmlns:a16="http://schemas.microsoft.com/office/drawing/2014/main" id="{996BCD5F-1891-C450-F3CC-AA4EFED4AFB5}"/>
                </a:ext>
              </a:extLst>
            </p:cNvPr>
            <p:cNvSpPr txBox="1"/>
            <p:nvPr/>
          </p:nvSpPr>
          <p:spPr>
            <a:xfrm>
              <a:off x="11459673" y="5345148"/>
              <a:ext cx="2975581" cy="1015663"/>
            </a:xfrm>
            <a:prstGeom prst="rect">
              <a:avLst/>
            </a:prstGeom>
            <a:noFill/>
          </p:spPr>
          <p:txBody>
            <a:bodyPr wrap="square" rtlCol="0">
              <a:spAutoFit/>
            </a:bodyPr>
            <a:lstStyle/>
            <a:p>
              <a:r>
                <a:rPr lang="en-US" sz="6000" dirty="0">
                  <a:solidFill>
                    <a:schemeClr val="bg1"/>
                  </a:solidFill>
                  <a:latin typeface="Consolas" panose="020B0609020204030204" pitchFamily="49" charset="0"/>
                </a:rPr>
                <a:t>Output</a:t>
              </a:r>
            </a:p>
          </p:txBody>
        </p:sp>
        <p:sp>
          <p:nvSpPr>
            <p:cNvPr id="41" name="TextBox 40">
              <a:extLst>
                <a:ext uri="{FF2B5EF4-FFF2-40B4-BE49-F238E27FC236}">
                  <a16:creationId xmlns:a16="http://schemas.microsoft.com/office/drawing/2014/main" id="{886FDFC6-4A9F-CD05-084F-2A36DBA029DF}"/>
                </a:ext>
              </a:extLst>
            </p:cNvPr>
            <p:cNvSpPr txBox="1"/>
            <p:nvPr/>
          </p:nvSpPr>
          <p:spPr>
            <a:xfrm>
              <a:off x="12359887" y="537973"/>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4</a:t>
              </a:r>
            </a:p>
          </p:txBody>
        </p:sp>
      </p:grpSp>
      <p:grpSp>
        <p:nvGrpSpPr>
          <p:cNvPr id="60" name="Group 59">
            <a:extLst>
              <a:ext uri="{FF2B5EF4-FFF2-40B4-BE49-F238E27FC236}">
                <a16:creationId xmlns:a16="http://schemas.microsoft.com/office/drawing/2014/main" id="{AB70F5FA-869A-19EE-5FA5-D889FC34F4F7}"/>
              </a:ext>
            </a:extLst>
          </p:cNvPr>
          <p:cNvGrpSpPr/>
          <p:nvPr/>
        </p:nvGrpSpPr>
        <p:grpSpPr>
          <a:xfrm>
            <a:off x="7261307" y="-8061"/>
            <a:ext cx="4085617" cy="8245722"/>
            <a:chOff x="7266774" y="0"/>
            <a:chExt cx="4085617" cy="8229600"/>
          </a:xfrm>
        </p:grpSpPr>
        <p:grpSp>
          <p:nvGrpSpPr>
            <p:cNvPr id="32" name="Group 31">
              <a:extLst>
                <a:ext uri="{FF2B5EF4-FFF2-40B4-BE49-F238E27FC236}">
                  <a16:creationId xmlns:a16="http://schemas.microsoft.com/office/drawing/2014/main" id="{73582EA2-F198-DE1E-9CB3-5B1FA951C49F}"/>
                </a:ext>
              </a:extLst>
            </p:cNvPr>
            <p:cNvGrpSpPr/>
            <p:nvPr/>
          </p:nvGrpSpPr>
          <p:grpSpPr>
            <a:xfrm>
              <a:off x="7266774" y="0"/>
              <a:ext cx="4085617" cy="8229600"/>
              <a:chOff x="-1" y="0"/>
              <a:chExt cx="4085617" cy="8229600"/>
            </a:xfrm>
            <a:solidFill>
              <a:schemeClr val="tx2">
                <a:lumMod val="75000"/>
                <a:lumOff val="25000"/>
              </a:schemeClr>
            </a:solidFill>
          </p:grpSpPr>
          <p:sp>
            <p:nvSpPr>
              <p:cNvPr id="33" name="Rectangle 32">
                <a:extLst>
                  <a:ext uri="{FF2B5EF4-FFF2-40B4-BE49-F238E27FC236}">
                    <a16:creationId xmlns:a16="http://schemas.microsoft.com/office/drawing/2014/main" id="{D33E0777-91DE-FFB2-9540-361983CA7435}"/>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34" name="Isosceles Triangle 33">
                <a:extLst>
                  <a:ext uri="{FF2B5EF4-FFF2-40B4-BE49-F238E27FC236}">
                    <a16:creationId xmlns:a16="http://schemas.microsoft.com/office/drawing/2014/main" id="{F6194BB3-6F34-F953-5A14-A5B9154960E3}"/>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01196B51-7967-D528-78E3-D54F37F51408}"/>
                </a:ext>
              </a:extLst>
            </p:cNvPr>
            <p:cNvSpPr txBox="1"/>
            <p:nvPr/>
          </p:nvSpPr>
          <p:spPr>
            <a:xfrm>
              <a:off x="8809907" y="496161"/>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3</a:t>
              </a:r>
            </a:p>
          </p:txBody>
        </p:sp>
        <p:grpSp>
          <p:nvGrpSpPr>
            <p:cNvPr id="51" name="Group 50">
              <a:extLst>
                <a:ext uri="{FF2B5EF4-FFF2-40B4-BE49-F238E27FC236}">
                  <a16:creationId xmlns:a16="http://schemas.microsoft.com/office/drawing/2014/main" id="{2E855E21-D301-B171-6C63-0B458654DFF5}"/>
                </a:ext>
              </a:extLst>
            </p:cNvPr>
            <p:cNvGrpSpPr/>
            <p:nvPr/>
          </p:nvGrpSpPr>
          <p:grpSpPr>
            <a:xfrm>
              <a:off x="7769446" y="2314570"/>
              <a:ext cx="2607525" cy="2548401"/>
              <a:chOff x="16488126" y="2796747"/>
              <a:chExt cx="2607525" cy="2548401"/>
            </a:xfrm>
          </p:grpSpPr>
          <p:pic>
            <p:nvPicPr>
              <p:cNvPr id="48" name="Graphic 47" descr="Scatterplot outline">
                <a:extLst>
                  <a:ext uri="{FF2B5EF4-FFF2-40B4-BE49-F238E27FC236}">
                    <a16:creationId xmlns:a16="http://schemas.microsoft.com/office/drawing/2014/main" id="{D3781BEF-7B38-9C9A-C2C7-26F08905C4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488126" y="2796747"/>
                <a:ext cx="2607525" cy="2548401"/>
              </a:xfrm>
              <a:prstGeom prst="rect">
                <a:avLst/>
              </a:prstGeom>
            </p:spPr>
          </p:pic>
          <p:cxnSp>
            <p:nvCxnSpPr>
              <p:cNvPr id="50" name="Straight Connector 49">
                <a:extLst>
                  <a:ext uri="{FF2B5EF4-FFF2-40B4-BE49-F238E27FC236}">
                    <a16:creationId xmlns:a16="http://schemas.microsoft.com/office/drawing/2014/main" id="{7F4848E4-D651-E312-7A41-88190C7D8E24}"/>
                  </a:ext>
                </a:extLst>
              </p:cNvPr>
              <p:cNvCxnSpPr/>
              <p:nvPr/>
            </p:nvCxnSpPr>
            <p:spPr>
              <a:xfrm flipV="1">
                <a:off x="17081770" y="3268494"/>
                <a:ext cx="1420239" cy="13813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E38A1408-3DEE-781D-371B-ED47F2934FCC}"/>
                </a:ext>
              </a:extLst>
            </p:cNvPr>
            <p:cNvSpPr txBox="1"/>
            <p:nvPr/>
          </p:nvSpPr>
          <p:spPr>
            <a:xfrm>
              <a:off x="8001800" y="5287657"/>
              <a:ext cx="2380047" cy="1015663"/>
            </a:xfrm>
            <a:prstGeom prst="rect">
              <a:avLst/>
            </a:prstGeom>
            <a:noFill/>
            <a:ln>
              <a:noFill/>
            </a:ln>
          </p:spPr>
          <p:txBody>
            <a:bodyPr wrap="square" rtlCol="0">
              <a:spAutoFit/>
            </a:bodyPr>
            <a:lstStyle/>
            <a:p>
              <a:r>
                <a:rPr lang="en-US" sz="6000" dirty="0">
                  <a:solidFill>
                    <a:schemeClr val="bg1"/>
                  </a:solidFill>
                  <a:latin typeface="Consolas" panose="020B0609020204030204" pitchFamily="49" charset="0"/>
                </a:rPr>
                <a:t>Train</a:t>
              </a:r>
            </a:p>
          </p:txBody>
        </p:sp>
      </p:grpSp>
      <p:grpSp>
        <p:nvGrpSpPr>
          <p:cNvPr id="59" name="Group 58">
            <a:extLst>
              <a:ext uri="{FF2B5EF4-FFF2-40B4-BE49-F238E27FC236}">
                <a16:creationId xmlns:a16="http://schemas.microsoft.com/office/drawing/2014/main" id="{4E67E68D-38E8-B5CA-D1B2-E46D558C440D}"/>
              </a:ext>
            </a:extLst>
          </p:cNvPr>
          <p:cNvGrpSpPr/>
          <p:nvPr/>
        </p:nvGrpSpPr>
        <p:grpSpPr>
          <a:xfrm>
            <a:off x="3630943" y="8061"/>
            <a:ext cx="4085617" cy="8229600"/>
            <a:chOff x="916678" y="52844"/>
            <a:chExt cx="4085617" cy="8229600"/>
          </a:xfrm>
        </p:grpSpPr>
        <p:grpSp>
          <p:nvGrpSpPr>
            <p:cNvPr id="58" name="Group 57">
              <a:extLst>
                <a:ext uri="{FF2B5EF4-FFF2-40B4-BE49-F238E27FC236}">
                  <a16:creationId xmlns:a16="http://schemas.microsoft.com/office/drawing/2014/main" id="{6BA267F4-9963-B282-DF07-D95996C80BE0}"/>
                </a:ext>
              </a:extLst>
            </p:cNvPr>
            <p:cNvGrpSpPr/>
            <p:nvPr/>
          </p:nvGrpSpPr>
          <p:grpSpPr>
            <a:xfrm>
              <a:off x="916678" y="52844"/>
              <a:ext cx="4085617" cy="8229600"/>
              <a:chOff x="3620501" y="0"/>
              <a:chExt cx="4085617" cy="8229600"/>
            </a:xfrm>
          </p:grpSpPr>
          <p:grpSp>
            <p:nvGrpSpPr>
              <p:cNvPr id="29" name="Group 28">
                <a:extLst>
                  <a:ext uri="{FF2B5EF4-FFF2-40B4-BE49-F238E27FC236}">
                    <a16:creationId xmlns:a16="http://schemas.microsoft.com/office/drawing/2014/main" id="{5E67EDCC-E378-F1E4-CA74-C2F3A66DA9F4}"/>
                  </a:ext>
                </a:extLst>
              </p:cNvPr>
              <p:cNvGrpSpPr/>
              <p:nvPr/>
            </p:nvGrpSpPr>
            <p:grpSpPr>
              <a:xfrm>
                <a:off x="3620501" y="0"/>
                <a:ext cx="4085617" cy="8229600"/>
                <a:chOff x="-1" y="0"/>
                <a:chExt cx="4085617" cy="8229600"/>
              </a:xfrm>
              <a:solidFill>
                <a:schemeClr val="tx2">
                  <a:lumMod val="50000"/>
                  <a:lumOff val="50000"/>
                </a:schemeClr>
              </a:solidFill>
            </p:grpSpPr>
            <p:sp>
              <p:nvSpPr>
                <p:cNvPr id="30" name="Rectangle 29">
                  <a:extLst>
                    <a:ext uri="{FF2B5EF4-FFF2-40B4-BE49-F238E27FC236}">
                      <a16:creationId xmlns:a16="http://schemas.microsoft.com/office/drawing/2014/main" id="{6175A3CA-F8EB-48AC-FC2F-A6081556C557}"/>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31" name="Isosceles Triangle 30">
                  <a:extLst>
                    <a:ext uri="{FF2B5EF4-FFF2-40B4-BE49-F238E27FC236}">
                      <a16:creationId xmlns:a16="http://schemas.microsoft.com/office/drawing/2014/main" id="{C70BBA9C-28C9-3963-BAB2-5319ACD70C04}"/>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315C4952-B3D0-D6C8-E625-8EC64B823745}"/>
                  </a:ext>
                </a:extLst>
              </p:cNvPr>
              <p:cNvSpPr txBox="1"/>
              <p:nvPr/>
            </p:nvSpPr>
            <p:spPr>
              <a:xfrm>
                <a:off x="5206246"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2</a:t>
                </a:r>
              </a:p>
            </p:txBody>
          </p:sp>
          <p:sp>
            <p:nvSpPr>
              <p:cNvPr id="46" name="TextBox 45">
                <a:extLst>
                  <a:ext uri="{FF2B5EF4-FFF2-40B4-BE49-F238E27FC236}">
                    <a16:creationId xmlns:a16="http://schemas.microsoft.com/office/drawing/2014/main" id="{64ABABD7-DAE9-42A1-AAEF-829858112601}"/>
                  </a:ext>
                </a:extLst>
              </p:cNvPr>
              <p:cNvSpPr txBox="1"/>
              <p:nvPr/>
            </p:nvSpPr>
            <p:spPr>
              <a:xfrm>
                <a:off x="5103012" y="5238764"/>
                <a:ext cx="1270477" cy="1015663"/>
              </a:xfrm>
              <a:prstGeom prst="rect">
                <a:avLst/>
              </a:prstGeom>
              <a:noFill/>
              <a:ln>
                <a:noFill/>
              </a:ln>
            </p:spPr>
            <p:txBody>
              <a:bodyPr wrap="square" rtlCol="0">
                <a:spAutoFit/>
              </a:bodyPr>
              <a:lstStyle/>
              <a:p>
                <a:r>
                  <a:rPr lang="en-US" sz="6000" dirty="0">
                    <a:solidFill>
                      <a:schemeClr val="bg1"/>
                    </a:solidFill>
                    <a:latin typeface="Consolas" panose="020B0609020204030204" pitchFamily="49" charset="0"/>
                  </a:rPr>
                  <a:t>ML</a:t>
                </a:r>
              </a:p>
            </p:txBody>
          </p:sp>
        </p:grpSp>
        <p:pic>
          <p:nvPicPr>
            <p:cNvPr id="45" name="Graphic 44" descr="Connections outline">
              <a:extLst>
                <a:ext uri="{FF2B5EF4-FFF2-40B4-BE49-F238E27FC236}">
                  <a16:creationId xmlns:a16="http://schemas.microsoft.com/office/drawing/2014/main" id="{B3DA8E14-0889-B126-63DB-616F510613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62400" y="2304842"/>
              <a:ext cx="2735663" cy="2735663"/>
            </a:xfrm>
            <a:prstGeom prst="rect">
              <a:avLst/>
            </a:prstGeom>
          </p:spPr>
        </p:pic>
      </p:grpSp>
      <p:grpSp>
        <p:nvGrpSpPr>
          <p:cNvPr id="53" name="Group 52">
            <a:extLst>
              <a:ext uri="{FF2B5EF4-FFF2-40B4-BE49-F238E27FC236}">
                <a16:creationId xmlns:a16="http://schemas.microsoft.com/office/drawing/2014/main" id="{B9F44E11-1915-98C5-6BE1-525FD1E92D9E}"/>
              </a:ext>
            </a:extLst>
          </p:cNvPr>
          <p:cNvGrpSpPr/>
          <p:nvPr/>
        </p:nvGrpSpPr>
        <p:grpSpPr>
          <a:xfrm>
            <a:off x="-9515" y="0"/>
            <a:ext cx="4085617" cy="8229600"/>
            <a:chOff x="-18619" y="0"/>
            <a:chExt cx="4085617" cy="8229600"/>
          </a:xfrm>
        </p:grpSpPr>
        <p:grpSp>
          <p:nvGrpSpPr>
            <p:cNvPr id="25" name="Group 24">
              <a:extLst>
                <a:ext uri="{FF2B5EF4-FFF2-40B4-BE49-F238E27FC236}">
                  <a16:creationId xmlns:a16="http://schemas.microsoft.com/office/drawing/2014/main" id="{5FEDE094-9EB2-ED25-E369-347DC1B11605}"/>
                </a:ext>
              </a:extLst>
            </p:cNvPr>
            <p:cNvGrpSpPr/>
            <p:nvPr/>
          </p:nvGrpSpPr>
          <p:grpSpPr>
            <a:xfrm>
              <a:off x="-18619" y="0"/>
              <a:ext cx="4085617" cy="8229600"/>
              <a:chOff x="-1" y="0"/>
              <a:chExt cx="4085617" cy="8229600"/>
            </a:xfrm>
          </p:grpSpPr>
          <p:sp>
            <p:nvSpPr>
              <p:cNvPr id="19" name="Rectangle 18">
                <a:extLst>
                  <a:ext uri="{FF2B5EF4-FFF2-40B4-BE49-F238E27FC236}">
                    <a16:creationId xmlns:a16="http://schemas.microsoft.com/office/drawing/2014/main" id="{AD31F982-9A59-2A38-E7B0-A5A32B257C6B}"/>
                  </a:ext>
                </a:extLst>
              </p:cNvPr>
              <p:cNvSpPr/>
              <p:nvPr/>
            </p:nvSpPr>
            <p:spPr>
              <a:xfrm>
                <a:off x="-1" y="0"/>
                <a:ext cx="3657600" cy="82296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24" name="Isosceles Triangle 23">
                <a:extLst>
                  <a:ext uri="{FF2B5EF4-FFF2-40B4-BE49-F238E27FC236}">
                    <a16:creationId xmlns:a16="http://schemas.microsoft.com/office/drawing/2014/main" id="{62F4F84E-EF49-D874-8460-75C33BDF65C1}"/>
                  </a:ext>
                </a:extLst>
              </p:cNvPr>
              <p:cNvSpPr/>
              <p:nvPr/>
            </p:nvSpPr>
            <p:spPr>
              <a:xfrm rot="5400000">
                <a:off x="3492230" y="632301"/>
                <a:ext cx="758756" cy="428017"/>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with solid fill">
              <a:extLst>
                <a:ext uri="{FF2B5EF4-FFF2-40B4-BE49-F238E27FC236}">
                  <a16:creationId xmlns:a16="http://schemas.microsoft.com/office/drawing/2014/main" id="{F19E053C-53D8-9E0F-B424-F3CD2C4529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414" y="2452610"/>
              <a:ext cx="2459584" cy="2459584"/>
            </a:xfrm>
            <a:prstGeom prst="rect">
              <a:avLst/>
            </a:prstGeom>
          </p:spPr>
        </p:pic>
        <p:sp>
          <p:nvSpPr>
            <p:cNvPr id="8" name="TextBox 7">
              <a:extLst>
                <a:ext uri="{FF2B5EF4-FFF2-40B4-BE49-F238E27FC236}">
                  <a16:creationId xmlns:a16="http://schemas.microsoft.com/office/drawing/2014/main" id="{833D3CDE-8E5D-66C1-A056-E7A82BD766A3}"/>
                </a:ext>
              </a:extLst>
            </p:cNvPr>
            <p:cNvSpPr txBox="1"/>
            <p:nvPr/>
          </p:nvSpPr>
          <p:spPr>
            <a:xfrm>
              <a:off x="881176" y="5238765"/>
              <a:ext cx="2036755" cy="1015663"/>
            </a:xfrm>
            <a:prstGeom prst="rect">
              <a:avLst/>
            </a:prstGeom>
            <a:noFill/>
          </p:spPr>
          <p:txBody>
            <a:bodyPr wrap="square" rtlCol="0">
              <a:spAutoFit/>
            </a:bodyPr>
            <a:lstStyle/>
            <a:p>
              <a:r>
                <a:rPr lang="en-US" sz="6000" dirty="0">
                  <a:solidFill>
                    <a:schemeClr val="bg1"/>
                  </a:solidFill>
                  <a:latin typeface="Consolas" panose="020B0609020204030204" pitchFamily="49" charset="0"/>
                </a:rPr>
                <a:t>Data</a:t>
              </a:r>
            </a:p>
          </p:txBody>
        </p:sp>
        <p:sp>
          <p:nvSpPr>
            <p:cNvPr id="38" name="TextBox 37">
              <a:extLst>
                <a:ext uri="{FF2B5EF4-FFF2-40B4-BE49-F238E27FC236}">
                  <a16:creationId xmlns:a16="http://schemas.microsoft.com/office/drawing/2014/main" id="{7A14ED7A-3B70-B65A-1F7F-B1BD5377729D}"/>
                </a:ext>
              </a:extLst>
            </p:cNvPr>
            <p:cNvSpPr txBox="1"/>
            <p:nvPr/>
          </p:nvSpPr>
          <p:spPr>
            <a:xfrm>
              <a:off x="1500852"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1</a:t>
              </a:r>
            </a:p>
          </p:txBody>
        </p:sp>
      </p:grpSp>
    </p:spTree>
    <p:extLst>
      <p:ext uri="{BB962C8B-B14F-4D97-AF65-F5344CB8AC3E}">
        <p14:creationId xmlns:p14="http://schemas.microsoft.com/office/powerpoint/2010/main" val="1591900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BA46E55C-AA39-585F-36E8-2D7793CB64C2}"/>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89197E61-1D1D-4577-D852-76A1CE8BD43B}"/>
              </a:ext>
            </a:extLst>
          </p:cNvPr>
          <p:cNvGrpSpPr/>
          <p:nvPr/>
        </p:nvGrpSpPr>
        <p:grpSpPr>
          <a:xfrm>
            <a:off x="1454476" y="0"/>
            <a:ext cx="3728635" cy="8229600"/>
            <a:chOff x="10887105" y="0"/>
            <a:chExt cx="3728635" cy="8229600"/>
          </a:xfrm>
        </p:grpSpPr>
        <p:sp>
          <p:nvSpPr>
            <p:cNvPr id="22" name="Rectangle 21">
              <a:extLst>
                <a:ext uri="{FF2B5EF4-FFF2-40B4-BE49-F238E27FC236}">
                  <a16:creationId xmlns:a16="http://schemas.microsoft.com/office/drawing/2014/main" id="{AA27043F-6C7D-E21E-4DA2-C4F2646AC203}"/>
                </a:ext>
              </a:extLst>
            </p:cNvPr>
            <p:cNvSpPr/>
            <p:nvPr/>
          </p:nvSpPr>
          <p:spPr>
            <a:xfrm>
              <a:off x="10887105" y="0"/>
              <a:ext cx="3728635" cy="82296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Gender with solid fill">
              <a:extLst>
                <a:ext uri="{FF2B5EF4-FFF2-40B4-BE49-F238E27FC236}">
                  <a16:creationId xmlns:a16="http://schemas.microsoft.com/office/drawing/2014/main" id="{65FE5B87-3DD2-F63C-A794-A2C762AF3D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21630" y="2406762"/>
              <a:ext cx="2459584" cy="2459584"/>
            </a:xfrm>
            <a:prstGeom prst="rect">
              <a:avLst/>
            </a:prstGeom>
          </p:spPr>
        </p:pic>
        <p:sp>
          <p:nvSpPr>
            <p:cNvPr id="11" name="TextBox 10">
              <a:extLst>
                <a:ext uri="{FF2B5EF4-FFF2-40B4-BE49-F238E27FC236}">
                  <a16:creationId xmlns:a16="http://schemas.microsoft.com/office/drawing/2014/main" id="{CC4AD913-986F-C21E-8C26-8FB4C0BBE13F}"/>
                </a:ext>
              </a:extLst>
            </p:cNvPr>
            <p:cNvSpPr txBox="1"/>
            <p:nvPr/>
          </p:nvSpPr>
          <p:spPr>
            <a:xfrm>
              <a:off x="11459673" y="5345148"/>
              <a:ext cx="2975581"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Output</a:t>
              </a:r>
            </a:p>
          </p:txBody>
        </p:sp>
        <p:sp>
          <p:nvSpPr>
            <p:cNvPr id="41" name="TextBox 40">
              <a:extLst>
                <a:ext uri="{FF2B5EF4-FFF2-40B4-BE49-F238E27FC236}">
                  <a16:creationId xmlns:a16="http://schemas.microsoft.com/office/drawing/2014/main" id="{F5697382-E127-6D24-16EC-33CF044E17BA}"/>
                </a:ext>
              </a:extLst>
            </p:cNvPr>
            <p:cNvSpPr txBox="1"/>
            <p:nvPr/>
          </p:nvSpPr>
          <p:spPr>
            <a:xfrm>
              <a:off x="12359887" y="537973"/>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4</a:t>
              </a:r>
            </a:p>
          </p:txBody>
        </p:sp>
      </p:grpSp>
      <p:grpSp>
        <p:nvGrpSpPr>
          <p:cNvPr id="60" name="Group 59">
            <a:extLst>
              <a:ext uri="{FF2B5EF4-FFF2-40B4-BE49-F238E27FC236}">
                <a16:creationId xmlns:a16="http://schemas.microsoft.com/office/drawing/2014/main" id="{E5796FC8-5418-B464-2350-233BA5DEB56D}"/>
              </a:ext>
            </a:extLst>
          </p:cNvPr>
          <p:cNvGrpSpPr/>
          <p:nvPr/>
        </p:nvGrpSpPr>
        <p:grpSpPr>
          <a:xfrm>
            <a:off x="1029012" y="0"/>
            <a:ext cx="4085617" cy="8229600"/>
            <a:chOff x="7266774" y="0"/>
            <a:chExt cx="4085617" cy="8229600"/>
          </a:xfrm>
        </p:grpSpPr>
        <p:grpSp>
          <p:nvGrpSpPr>
            <p:cNvPr id="32" name="Group 31">
              <a:extLst>
                <a:ext uri="{FF2B5EF4-FFF2-40B4-BE49-F238E27FC236}">
                  <a16:creationId xmlns:a16="http://schemas.microsoft.com/office/drawing/2014/main" id="{1DB59631-AFB2-D366-E267-46736759C7D0}"/>
                </a:ext>
              </a:extLst>
            </p:cNvPr>
            <p:cNvGrpSpPr/>
            <p:nvPr/>
          </p:nvGrpSpPr>
          <p:grpSpPr>
            <a:xfrm>
              <a:off x="7266774" y="0"/>
              <a:ext cx="4085617" cy="8229600"/>
              <a:chOff x="-1" y="0"/>
              <a:chExt cx="4085617" cy="8229600"/>
            </a:xfrm>
            <a:solidFill>
              <a:schemeClr val="tx2">
                <a:lumMod val="75000"/>
                <a:lumOff val="25000"/>
              </a:schemeClr>
            </a:solidFill>
          </p:grpSpPr>
          <p:sp>
            <p:nvSpPr>
              <p:cNvPr id="33" name="Rectangle 32">
                <a:extLst>
                  <a:ext uri="{FF2B5EF4-FFF2-40B4-BE49-F238E27FC236}">
                    <a16:creationId xmlns:a16="http://schemas.microsoft.com/office/drawing/2014/main" id="{A976D403-FF9E-927E-7824-BC9AA6EABA9B}"/>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34" name="Isosceles Triangle 33">
                <a:extLst>
                  <a:ext uri="{FF2B5EF4-FFF2-40B4-BE49-F238E27FC236}">
                    <a16:creationId xmlns:a16="http://schemas.microsoft.com/office/drawing/2014/main" id="{5D1F09F2-AD49-A070-2BA9-0A56E1114B48}"/>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DDB6A662-C2F4-E8A1-2746-26C61EF464F2}"/>
                </a:ext>
              </a:extLst>
            </p:cNvPr>
            <p:cNvSpPr txBox="1"/>
            <p:nvPr/>
          </p:nvSpPr>
          <p:spPr>
            <a:xfrm>
              <a:off x="8809907" y="496161"/>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3</a:t>
              </a:r>
            </a:p>
          </p:txBody>
        </p:sp>
        <p:grpSp>
          <p:nvGrpSpPr>
            <p:cNvPr id="51" name="Group 50">
              <a:extLst>
                <a:ext uri="{FF2B5EF4-FFF2-40B4-BE49-F238E27FC236}">
                  <a16:creationId xmlns:a16="http://schemas.microsoft.com/office/drawing/2014/main" id="{480A6FCC-F21B-A400-4F16-9C41F7A01BF5}"/>
                </a:ext>
              </a:extLst>
            </p:cNvPr>
            <p:cNvGrpSpPr/>
            <p:nvPr/>
          </p:nvGrpSpPr>
          <p:grpSpPr>
            <a:xfrm>
              <a:off x="7769446" y="2314570"/>
              <a:ext cx="2607525" cy="2548401"/>
              <a:chOff x="16488126" y="2796747"/>
              <a:chExt cx="2607525" cy="2548401"/>
            </a:xfrm>
          </p:grpSpPr>
          <p:pic>
            <p:nvPicPr>
              <p:cNvPr id="48" name="Graphic 47" descr="Scatterplot outline">
                <a:extLst>
                  <a:ext uri="{FF2B5EF4-FFF2-40B4-BE49-F238E27FC236}">
                    <a16:creationId xmlns:a16="http://schemas.microsoft.com/office/drawing/2014/main" id="{65876F05-2311-A8DD-5C73-0F02B987B9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88126" y="2796747"/>
                <a:ext cx="2607525" cy="2548401"/>
              </a:xfrm>
              <a:prstGeom prst="rect">
                <a:avLst/>
              </a:prstGeom>
            </p:spPr>
          </p:pic>
          <p:cxnSp>
            <p:nvCxnSpPr>
              <p:cNvPr id="50" name="Straight Connector 49">
                <a:extLst>
                  <a:ext uri="{FF2B5EF4-FFF2-40B4-BE49-F238E27FC236}">
                    <a16:creationId xmlns:a16="http://schemas.microsoft.com/office/drawing/2014/main" id="{47BC805C-5302-9A91-970F-8976066B37EF}"/>
                  </a:ext>
                </a:extLst>
              </p:cNvPr>
              <p:cNvCxnSpPr/>
              <p:nvPr/>
            </p:nvCxnSpPr>
            <p:spPr>
              <a:xfrm flipV="1">
                <a:off x="17081770" y="3268494"/>
                <a:ext cx="1420239" cy="13813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80A6F8C3-1233-646C-7F63-001CB1B78A19}"/>
                </a:ext>
              </a:extLst>
            </p:cNvPr>
            <p:cNvSpPr txBox="1"/>
            <p:nvPr/>
          </p:nvSpPr>
          <p:spPr>
            <a:xfrm>
              <a:off x="8001800" y="5287657"/>
              <a:ext cx="238004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Train</a:t>
              </a:r>
            </a:p>
          </p:txBody>
        </p:sp>
      </p:grpSp>
      <p:grpSp>
        <p:nvGrpSpPr>
          <p:cNvPr id="59" name="Group 58">
            <a:extLst>
              <a:ext uri="{FF2B5EF4-FFF2-40B4-BE49-F238E27FC236}">
                <a16:creationId xmlns:a16="http://schemas.microsoft.com/office/drawing/2014/main" id="{40526AD5-917D-A014-747F-E14C007360CD}"/>
              </a:ext>
            </a:extLst>
          </p:cNvPr>
          <p:cNvGrpSpPr/>
          <p:nvPr/>
        </p:nvGrpSpPr>
        <p:grpSpPr>
          <a:xfrm>
            <a:off x="483290" y="0"/>
            <a:ext cx="4085617" cy="8229600"/>
            <a:chOff x="916678" y="52844"/>
            <a:chExt cx="4085617" cy="8229600"/>
          </a:xfrm>
        </p:grpSpPr>
        <p:grpSp>
          <p:nvGrpSpPr>
            <p:cNvPr id="58" name="Group 57">
              <a:extLst>
                <a:ext uri="{FF2B5EF4-FFF2-40B4-BE49-F238E27FC236}">
                  <a16:creationId xmlns:a16="http://schemas.microsoft.com/office/drawing/2014/main" id="{3CD9483B-F402-3B06-2C89-C7A573996F09}"/>
                </a:ext>
              </a:extLst>
            </p:cNvPr>
            <p:cNvGrpSpPr/>
            <p:nvPr/>
          </p:nvGrpSpPr>
          <p:grpSpPr>
            <a:xfrm>
              <a:off x="916678" y="52844"/>
              <a:ext cx="4085617" cy="8229600"/>
              <a:chOff x="3620501" y="0"/>
              <a:chExt cx="4085617" cy="8229600"/>
            </a:xfrm>
          </p:grpSpPr>
          <p:grpSp>
            <p:nvGrpSpPr>
              <p:cNvPr id="29" name="Group 28">
                <a:extLst>
                  <a:ext uri="{FF2B5EF4-FFF2-40B4-BE49-F238E27FC236}">
                    <a16:creationId xmlns:a16="http://schemas.microsoft.com/office/drawing/2014/main" id="{ACCEFE5A-A31B-7D99-CE2B-A82A58693F43}"/>
                  </a:ext>
                </a:extLst>
              </p:cNvPr>
              <p:cNvGrpSpPr/>
              <p:nvPr/>
            </p:nvGrpSpPr>
            <p:grpSpPr>
              <a:xfrm>
                <a:off x="3620501" y="0"/>
                <a:ext cx="4085617" cy="8229600"/>
                <a:chOff x="-1" y="0"/>
                <a:chExt cx="4085617" cy="8229600"/>
              </a:xfrm>
              <a:solidFill>
                <a:schemeClr val="tx2">
                  <a:lumMod val="50000"/>
                  <a:lumOff val="50000"/>
                </a:schemeClr>
              </a:solidFill>
            </p:grpSpPr>
            <p:sp>
              <p:nvSpPr>
                <p:cNvPr id="30" name="Rectangle 29">
                  <a:extLst>
                    <a:ext uri="{FF2B5EF4-FFF2-40B4-BE49-F238E27FC236}">
                      <a16:creationId xmlns:a16="http://schemas.microsoft.com/office/drawing/2014/main" id="{D68345A9-821A-7A1A-2ACC-561E2A05D07C}"/>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31" name="Isosceles Triangle 30">
                  <a:extLst>
                    <a:ext uri="{FF2B5EF4-FFF2-40B4-BE49-F238E27FC236}">
                      <a16:creationId xmlns:a16="http://schemas.microsoft.com/office/drawing/2014/main" id="{3FD0E366-A04A-FC77-9A60-DB660B68002F}"/>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E1C9D20C-410E-ED79-F493-24F688594097}"/>
                  </a:ext>
                </a:extLst>
              </p:cNvPr>
              <p:cNvSpPr txBox="1"/>
              <p:nvPr/>
            </p:nvSpPr>
            <p:spPr>
              <a:xfrm>
                <a:off x="5206246"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2</a:t>
                </a:r>
              </a:p>
            </p:txBody>
          </p:sp>
          <p:sp>
            <p:nvSpPr>
              <p:cNvPr id="46" name="TextBox 45">
                <a:extLst>
                  <a:ext uri="{FF2B5EF4-FFF2-40B4-BE49-F238E27FC236}">
                    <a16:creationId xmlns:a16="http://schemas.microsoft.com/office/drawing/2014/main" id="{C927E34E-ED55-3618-D456-285692A38DA3}"/>
                  </a:ext>
                </a:extLst>
              </p:cNvPr>
              <p:cNvSpPr txBox="1"/>
              <p:nvPr/>
            </p:nvSpPr>
            <p:spPr>
              <a:xfrm>
                <a:off x="5103012" y="5238764"/>
                <a:ext cx="127047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ML</a:t>
                </a:r>
              </a:p>
            </p:txBody>
          </p:sp>
        </p:grpSp>
        <p:pic>
          <p:nvPicPr>
            <p:cNvPr id="45" name="Graphic 44" descr="Connections outline">
              <a:extLst>
                <a:ext uri="{FF2B5EF4-FFF2-40B4-BE49-F238E27FC236}">
                  <a16:creationId xmlns:a16="http://schemas.microsoft.com/office/drawing/2014/main" id="{8A815C62-F0C1-29DB-0830-BBB2DF9AFF6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2400" y="2304842"/>
              <a:ext cx="2735663" cy="2735663"/>
            </a:xfrm>
            <a:prstGeom prst="rect">
              <a:avLst/>
            </a:prstGeom>
          </p:spPr>
        </p:pic>
      </p:grpSp>
      <p:grpSp>
        <p:nvGrpSpPr>
          <p:cNvPr id="53" name="Group 52">
            <a:extLst>
              <a:ext uri="{FF2B5EF4-FFF2-40B4-BE49-F238E27FC236}">
                <a16:creationId xmlns:a16="http://schemas.microsoft.com/office/drawing/2014/main" id="{A1BCCC50-2AF3-4354-F498-D6CFDDDFF5D6}"/>
              </a:ext>
            </a:extLst>
          </p:cNvPr>
          <p:cNvGrpSpPr/>
          <p:nvPr/>
        </p:nvGrpSpPr>
        <p:grpSpPr>
          <a:xfrm>
            <a:off x="-9515" y="0"/>
            <a:ext cx="4085617" cy="8229600"/>
            <a:chOff x="-18619" y="0"/>
            <a:chExt cx="4085617" cy="8229600"/>
          </a:xfrm>
        </p:grpSpPr>
        <p:grpSp>
          <p:nvGrpSpPr>
            <p:cNvPr id="25" name="Group 24">
              <a:extLst>
                <a:ext uri="{FF2B5EF4-FFF2-40B4-BE49-F238E27FC236}">
                  <a16:creationId xmlns:a16="http://schemas.microsoft.com/office/drawing/2014/main" id="{C67DF789-D288-333C-E9E5-6C58BAEA1B86}"/>
                </a:ext>
              </a:extLst>
            </p:cNvPr>
            <p:cNvGrpSpPr/>
            <p:nvPr/>
          </p:nvGrpSpPr>
          <p:grpSpPr>
            <a:xfrm>
              <a:off x="-18619" y="0"/>
              <a:ext cx="4085617" cy="8229600"/>
              <a:chOff x="-1" y="0"/>
              <a:chExt cx="4085617" cy="8229600"/>
            </a:xfrm>
          </p:grpSpPr>
          <p:sp>
            <p:nvSpPr>
              <p:cNvPr id="19" name="Rectangle 18">
                <a:extLst>
                  <a:ext uri="{FF2B5EF4-FFF2-40B4-BE49-F238E27FC236}">
                    <a16:creationId xmlns:a16="http://schemas.microsoft.com/office/drawing/2014/main" id="{169DA319-F211-374E-DAFE-6167BD40D48A}"/>
                  </a:ext>
                </a:extLst>
              </p:cNvPr>
              <p:cNvSpPr/>
              <p:nvPr/>
            </p:nvSpPr>
            <p:spPr>
              <a:xfrm>
                <a:off x="-1" y="0"/>
                <a:ext cx="3657600" cy="82296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24" name="Isosceles Triangle 23">
                <a:extLst>
                  <a:ext uri="{FF2B5EF4-FFF2-40B4-BE49-F238E27FC236}">
                    <a16:creationId xmlns:a16="http://schemas.microsoft.com/office/drawing/2014/main" id="{FF577B1A-2A2F-A853-059C-1CA2F2D8335B}"/>
                  </a:ext>
                </a:extLst>
              </p:cNvPr>
              <p:cNvSpPr/>
              <p:nvPr/>
            </p:nvSpPr>
            <p:spPr>
              <a:xfrm rot="5400000">
                <a:off x="3492230" y="632301"/>
                <a:ext cx="758756" cy="428017"/>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with solid fill">
              <a:extLst>
                <a:ext uri="{FF2B5EF4-FFF2-40B4-BE49-F238E27FC236}">
                  <a16:creationId xmlns:a16="http://schemas.microsoft.com/office/drawing/2014/main" id="{239F8B6F-EA56-449F-1F9E-49F711ADDCE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3414" y="2452610"/>
              <a:ext cx="2459584" cy="2459584"/>
            </a:xfrm>
            <a:prstGeom prst="rect">
              <a:avLst/>
            </a:prstGeom>
          </p:spPr>
        </p:pic>
        <p:sp>
          <p:nvSpPr>
            <p:cNvPr id="8" name="TextBox 7">
              <a:extLst>
                <a:ext uri="{FF2B5EF4-FFF2-40B4-BE49-F238E27FC236}">
                  <a16:creationId xmlns:a16="http://schemas.microsoft.com/office/drawing/2014/main" id="{9D5B01E4-271D-3278-9CE7-34312EF6C235}"/>
                </a:ext>
              </a:extLst>
            </p:cNvPr>
            <p:cNvSpPr txBox="1"/>
            <p:nvPr/>
          </p:nvSpPr>
          <p:spPr>
            <a:xfrm>
              <a:off x="881176" y="5238765"/>
              <a:ext cx="2036755" cy="1015663"/>
            </a:xfrm>
            <a:prstGeom prst="rect">
              <a:avLst/>
            </a:prstGeom>
            <a:noFill/>
          </p:spPr>
          <p:txBody>
            <a:bodyPr wrap="square" rtlCol="0">
              <a:spAutoFit/>
            </a:bodyPr>
            <a:lstStyle/>
            <a:p>
              <a:r>
                <a:rPr lang="en-US" sz="6000" dirty="0">
                  <a:solidFill>
                    <a:schemeClr val="bg1"/>
                  </a:solidFill>
                  <a:latin typeface="Consolas" panose="020B0609020204030204" pitchFamily="49" charset="0"/>
                </a:rPr>
                <a:t>Data</a:t>
              </a:r>
            </a:p>
          </p:txBody>
        </p:sp>
        <p:sp>
          <p:nvSpPr>
            <p:cNvPr id="38" name="TextBox 37">
              <a:extLst>
                <a:ext uri="{FF2B5EF4-FFF2-40B4-BE49-F238E27FC236}">
                  <a16:creationId xmlns:a16="http://schemas.microsoft.com/office/drawing/2014/main" id="{A6794626-486D-140D-6EBD-9ECEDE7EAF7D}"/>
                </a:ext>
              </a:extLst>
            </p:cNvPr>
            <p:cNvSpPr txBox="1"/>
            <p:nvPr/>
          </p:nvSpPr>
          <p:spPr>
            <a:xfrm>
              <a:off x="1500852"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1</a:t>
              </a:r>
            </a:p>
          </p:txBody>
        </p:sp>
      </p:grpSp>
      <p:sp>
        <p:nvSpPr>
          <p:cNvPr id="2" name="TextBox 1">
            <a:extLst>
              <a:ext uri="{FF2B5EF4-FFF2-40B4-BE49-F238E27FC236}">
                <a16:creationId xmlns:a16="http://schemas.microsoft.com/office/drawing/2014/main" id="{72551642-49E1-1482-C481-5A5B3DAE0195}"/>
              </a:ext>
            </a:extLst>
          </p:cNvPr>
          <p:cNvSpPr txBox="1"/>
          <p:nvPr/>
        </p:nvSpPr>
        <p:spPr>
          <a:xfrm>
            <a:off x="6347785" y="397522"/>
            <a:ext cx="7799325" cy="2323713"/>
          </a:xfrm>
          <a:prstGeom prst="rect">
            <a:avLst/>
          </a:prstGeom>
          <a:noFill/>
        </p:spPr>
        <p:txBody>
          <a:bodyPr wrap="square" rtlCol="0">
            <a:spAutoFit/>
          </a:bodyPr>
          <a:lstStyle/>
          <a:p>
            <a:r>
              <a:rPr lang="en-US" sz="5500" b="1" dirty="0">
                <a:solidFill>
                  <a:schemeClr val="tx2"/>
                </a:solidFill>
                <a:latin typeface="Consolas" panose="020B0609020204030204" pitchFamily="49" charset="0"/>
              </a:rPr>
              <a:t>Input</a:t>
            </a:r>
          </a:p>
          <a:p>
            <a:pPr marL="1143000" indent="-1143000">
              <a:buFont typeface="Arial" panose="020B0604020202020204" pitchFamily="34" charset="0"/>
              <a:buChar char="•"/>
            </a:pPr>
            <a:r>
              <a:rPr lang="en-US" sz="4500" dirty="0">
                <a:solidFill>
                  <a:schemeClr val="tx2"/>
                </a:solidFill>
                <a:latin typeface="Consolas" panose="020B0609020204030204" pitchFamily="49" charset="0"/>
              </a:rPr>
              <a:t>200.000 pictures</a:t>
            </a:r>
          </a:p>
          <a:p>
            <a:pPr marL="1143000" indent="-1143000">
              <a:buFont typeface="Arial" panose="020B0604020202020204" pitchFamily="34" charset="0"/>
              <a:buChar char="•"/>
            </a:pPr>
            <a:r>
              <a:rPr lang="en-US" sz="4500" dirty="0">
                <a:solidFill>
                  <a:schemeClr val="tx2"/>
                </a:solidFill>
                <a:latin typeface="Consolas" panose="020B0609020204030204" pitchFamily="49" charset="0"/>
              </a:rPr>
              <a:t>Labeled by gender</a:t>
            </a:r>
          </a:p>
        </p:txBody>
      </p:sp>
      <p:pic>
        <p:nvPicPr>
          <p:cNvPr id="4" name="Picture 3" descr="A person with dark hair&#10;&#10;AI-generated content may be incorrect.">
            <a:extLst>
              <a:ext uri="{FF2B5EF4-FFF2-40B4-BE49-F238E27FC236}">
                <a16:creationId xmlns:a16="http://schemas.microsoft.com/office/drawing/2014/main" id="{3239D177-D2B3-904D-BE0D-0E03B5D6A1A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60224" y="3476121"/>
            <a:ext cx="2703057" cy="3310486"/>
          </a:xfrm>
          <a:prstGeom prst="rect">
            <a:avLst/>
          </a:prstGeom>
          <a:ln w="38100" cap="sq">
            <a:noFill/>
            <a:prstDash val="solid"/>
            <a:miter lim="800000"/>
          </a:ln>
          <a:effectLst/>
        </p:spPr>
      </p:pic>
      <p:pic>
        <p:nvPicPr>
          <p:cNvPr id="9" name="Picture 8" descr="A close-up of a person&#10;&#10;AI-generated content may be incorrect.">
            <a:extLst>
              <a:ext uri="{FF2B5EF4-FFF2-40B4-BE49-F238E27FC236}">
                <a16:creationId xmlns:a16="http://schemas.microsoft.com/office/drawing/2014/main" id="{0CA0CBD0-4491-EAB8-D8C4-AD6AF5D126D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292218" y="3466973"/>
            <a:ext cx="2703057" cy="3310486"/>
          </a:xfrm>
          <a:prstGeom prst="rect">
            <a:avLst/>
          </a:prstGeom>
          <a:ln w="38100" cap="sq">
            <a:noFill/>
            <a:prstDash val="solid"/>
            <a:miter lim="800000"/>
          </a:ln>
          <a:effectLst/>
        </p:spPr>
      </p:pic>
      <p:sp>
        <p:nvSpPr>
          <p:cNvPr id="10" name="TextBox 9">
            <a:extLst>
              <a:ext uri="{FF2B5EF4-FFF2-40B4-BE49-F238E27FC236}">
                <a16:creationId xmlns:a16="http://schemas.microsoft.com/office/drawing/2014/main" id="{02FFB469-FB02-CDB1-5427-C5F54CBD8896}"/>
              </a:ext>
            </a:extLst>
          </p:cNvPr>
          <p:cNvSpPr txBox="1"/>
          <p:nvPr/>
        </p:nvSpPr>
        <p:spPr>
          <a:xfrm>
            <a:off x="6893376" y="6917898"/>
            <a:ext cx="2036755" cy="1015663"/>
          </a:xfrm>
          <a:prstGeom prst="rect">
            <a:avLst/>
          </a:prstGeom>
          <a:noFill/>
        </p:spPr>
        <p:txBody>
          <a:bodyPr wrap="square" rtlCol="0">
            <a:spAutoFit/>
          </a:bodyPr>
          <a:lstStyle/>
          <a:p>
            <a:pPr algn="ctr"/>
            <a:r>
              <a:rPr lang="en-US" sz="6000" dirty="0">
                <a:solidFill>
                  <a:schemeClr val="tx2"/>
                </a:solidFill>
                <a:latin typeface="Consolas" panose="020B0609020204030204" pitchFamily="49" charset="0"/>
              </a:rPr>
              <a:t>MALE</a:t>
            </a:r>
          </a:p>
        </p:txBody>
      </p:sp>
      <p:sp>
        <p:nvSpPr>
          <p:cNvPr id="13" name="TextBox 12">
            <a:extLst>
              <a:ext uri="{FF2B5EF4-FFF2-40B4-BE49-F238E27FC236}">
                <a16:creationId xmlns:a16="http://schemas.microsoft.com/office/drawing/2014/main" id="{4377B896-8CC2-AD5B-37A0-B2AD6776CFD7}"/>
              </a:ext>
            </a:extLst>
          </p:cNvPr>
          <p:cNvSpPr txBox="1"/>
          <p:nvPr/>
        </p:nvSpPr>
        <p:spPr>
          <a:xfrm>
            <a:off x="10292218" y="6952599"/>
            <a:ext cx="2703057" cy="1015663"/>
          </a:xfrm>
          <a:prstGeom prst="rect">
            <a:avLst/>
          </a:prstGeom>
          <a:noFill/>
        </p:spPr>
        <p:txBody>
          <a:bodyPr wrap="square" rtlCol="0">
            <a:spAutoFit/>
          </a:bodyPr>
          <a:lstStyle/>
          <a:p>
            <a:pPr algn="ctr"/>
            <a:r>
              <a:rPr lang="en-US" sz="6000" dirty="0">
                <a:solidFill>
                  <a:schemeClr val="tx2"/>
                </a:solidFill>
                <a:latin typeface="Consolas" panose="020B0609020204030204" pitchFamily="49" charset="0"/>
              </a:rPr>
              <a:t>FEMALE</a:t>
            </a:r>
          </a:p>
        </p:txBody>
      </p:sp>
    </p:spTree>
    <p:extLst>
      <p:ext uri="{BB962C8B-B14F-4D97-AF65-F5344CB8AC3E}">
        <p14:creationId xmlns:p14="http://schemas.microsoft.com/office/powerpoint/2010/main" val="3835450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140F281C-E026-58CC-48CE-33ECC10060F5}"/>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9DE6373D-73F9-2B4E-A917-9CB3AE2EED01}"/>
              </a:ext>
            </a:extLst>
          </p:cNvPr>
          <p:cNvGrpSpPr/>
          <p:nvPr/>
        </p:nvGrpSpPr>
        <p:grpSpPr>
          <a:xfrm>
            <a:off x="869438" y="-27104"/>
            <a:ext cx="3728635" cy="8229600"/>
            <a:chOff x="10887105" y="0"/>
            <a:chExt cx="3728635" cy="8229600"/>
          </a:xfrm>
        </p:grpSpPr>
        <p:sp>
          <p:nvSpPr>
            <p:cNvPr id="22" name="Rectangle 21">
              <a:extLst>
                <a:ext uri="{FF2B5EF4-FFF2-40B4-BE49-F238E27FC236}">
                  <a16:creationId xmlns:a16="http://schemas.microsoft.com/office/drawing/2014/main" id="{BD0AF24E-31FD-07D2-D6C0-10D09DEDEED0}"/>
                </a:ext>
              </a:extLst>
            </p:cNvPr>
            <p:cNvSpPr/>
            <p:nvPr/>
          </p:nvSpPr>
          <p:spPr>
            <a:xfrm>
              <a:off x="10887105" y="0"/>
              <a:ext cx="3728635" cy="82296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Gender with solid fill">
              <a:extLst>
                <a:ext uri="{FF2B5EF4-FFF2-40B4-BE49-F238E27FC236}">
                  <a16:creationId xmlns:a16="http://schemas.microsoft.com/office/drawing/2014/main" id="{A3066891-2E5C-6DAD-B091-CB97D1340F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21630" y="2406762"/>
              <a:ext cx="2459584" cy="2459584"/>
            </a:xfrm>
            <a:prstGeom prst="rect">
              <a:avLst/>
            </a:prstGeom>
          </p:spPr>
        </p:pic>
        <p:sp>
          <p:nvSpPr>
            <p:cNvPr id="11" name="TextBox 10">
              <a:extLst>
                <a:ext uri="{FF2B5EF4-FFF2-40B4-BE49-F238E27FC236}">
                  <a16:creationId xmlns:a16="http://schemas.microsoft.com/office/drawing/2014/main" id="{4770607F-905E-4603-DF8F-C59A91B16FC2}"/>
                </a:ext>
              </a:extLst>
            </p:cNvPr>
            <p:cNvSpPr txBox="1"/>
            <p:nvPr/>
          </p:nvSpPr>
          <p:spPr>
            <a:xfrm>
              <a:off x="11459673" y="5345148"/>
              <a:ext cx="2975581"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Output</a:t>
              </a:r>
            </a:p>
          </p:txBody>
        </p:sp>
        <p:sp>
          <p:nvSpPr>
            <p:cNvPr id="41" name="TextBox 40">
              <a:extLst>
                <a:ext uri="{FF2B5EF4-FFF2-40B4-BE49-F238E27FC236}">
                  <a16:creationId xmlns:a16="http://schemas.microsoft.com/office/drawing/2014/main" id="{75C9965C-4C60-7443-9E53-6FD5DA6204EB}"/>
                </a:ext>
              </a:extLst>
            </p:cNvPr>
            <p:cNvSpPr txBox="1"/>
            <p:nvPr/>
          </p:nvSpPr>
          <p:spPr>
            <a:xfrm>
              <a:off x="12359887" y="537973"/>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4</a:t>
              </a:r>
            </a:p>
          </p:txBody>
        </p:sp>
      </p:grpSp>
      <p:grpSp>
        <p:nvGrpSpPr>
          <p:cNvPr id="60" name="Group 59">
            <a:extLst>
              <a:ext uri="{FF2B5EF4-FFF2-40B4-BE49-F238E27FC236}">
                <a16:creationId xmlns:a16="http://schemas.microsoft.com/office/drawing/2014/main" id="{13F29884-66DF-6787-2140-4DDC09100F8D}"/>
              </a:ext>
            </a:extLst>
          </p:cNvPr>
          <p:cNvGrpSpPr/>
          <p:nvPr/>
        </p:nvGrpSpPr>
        <p:grpSpPr>
          <a:xfrm>
            <a:off x="343456" y="-27105"/>
            <a:ext cx="4085617" cy="8457979"/>
            <a:chOff x="7266774" y="0"/>
            <a:chExt cx="4085617" cy="8229600"/>
          </a:xfrm>
        </p:grpSpPr>
        <p:grpSp>
          <p:nvGrpSpPr>
            <p:cNvPr id="32" name="Group 31">
              <a:extLst>
                <a:ext uri="{FF2B5EF4-FFF2-40B4-BE49-F238E27FC236}">
                  <a16:creationId xmlns:a16="http://schemas.microsoft.com/office/drawing/2014/main" id="{CB7A0F5B-5DF6-6399-DF48-2FC1232EE110}"/>
                </a:ext>
              </a:extLst>
            </p:cNvPr>
            <p:cNvGrpSpPr/>
            <p:nvPr/>
          </p:nvGrpSpPr>
          <p:grpSpPr>
            <a:xfrm>
              <a:off x="7266774" y="0"/>
              <a:ext cx="4085617" cy="8229600"/>
              <a:chOff x="-1" y="0"/>
              <a:chExt cx="4085617" cy="8229600"/>
            </a:xfrm>
            <a:solidFill>
              <a:schemeClr val="tx2">
                <a:lumMod val="75000"/>
                <a:lumOff val="25000"/>
              </a:schemeClr>
            </a:solidFill>
          </p:grpSpPr>
          <p:sp>
            <p:nvSpPr>
              <p:cNvPr id="33" name="Rectangle 32">
                <a:extLst>
                  <a:ext uri="{FF2B5EF4-FFF2-40B4-BE49-F238E27FC236}">
                    <a16:creationId xmlns:a16="http://schemas.microsoft.com/office/drawing/2014/main" id="{651C9125-45AC-3427-2F1C-DF8EAA0D7D55}"/>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34" name="Isosceles Triangle 33">
                <a:extLst>
                  <a:ext uri="{FF2B5EF4-FFF2-40B4-BE49-F238E27FC236}">
                    <a16:creationId xmlns:a16="http://schemas.microsoft.com/office/drawing/2014/main" id="{2D04FA72-EA2D-70E3-C752-654B2917D86F}"/>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01888DA7-1DC7-7671-759E-CD3898D26B0B}"/>
                </a:ext>
              </a:extLst>
            </p:cNvPr>
            <p:cNvSpPr txBox="1"/>
            <p:nvPr/>
          </p:nvSpPr>
          <p:spPr>
            <a:xfrm>
              <a:off x="8809907" y="496161"/>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3</a:t>
              </a:r>
            </a:p>
          </p:txBody>
        </p:sp>
        <p:grpSp>
          <p:nvGrpSpPr>
            <p:cNvPr id="51" name="Group 50">
              <a:extLst>
                <a:ext uri="{FF2B5EF4-FFF2-40B4-BE49-F238E27FC236}">
                  <a16:creationId xmlns:a16="http://schemas.microsoft.com/office/drawing/2014/main" id="{7E96CB02-0C69-081B-005A-D5A5A192A9C5}"/>
                </a:ext>
              </a:extLst>
            </p:cNvPr>
            <p:cNvGrpSpPr/>
            <p:nvPr/>
          </p:nvGrpSpPr>
          <p:grpSpPr>
            <a:xfrm>
              <a:off x="7769446" y="2314570"/>
              <a:ext cx="2607525" cy="2548401"/>
              <a:chOff x="16488126" y="2796747"/>
              <a:chExt cx="2607525" cy="2548401"/>
            </a:xfrm>
          </p:grpSpPr>
          <p:pic>
            <p:nvPicPr>
              <p:cNvPr id="48" name="Graphic 47" descr="Scatterplot outline">
                <a:extLst>
                  <a:ext uri="{FF2B5EF4-FFF2-40B4-BE49-F238E27FC236}">
                    <a16:creationId xmlns:a16="http://schemas.microsoft.com/office/drawing/2014/main" id="{C03316A5-4F6B-AE28-5CCE-A85C011445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488126" y="2796747"/>
                <a:ext cx="2607525" cy="2548401"/>
              </a:xfrm>
              <a:prstGeom prst="rect">
                <a:avLst/>
              </a:prstGeom>
            </p:spPr>
          </p:pic>
          <p:cxnSp>
            <p:nvCxnSpPr>
              <p:cNvPr id="50" name="Straight Connector 49">
                <a:extLst>
                  <a:ext uri="{FF2B5EF4-FFF2-40B4-BE49-F238E27FC236}">
                    <a16:creationId xmlns:a16="http://schemas.microsoft.com/office/drawing/2014/main" id="{6B087B4D-5F8F-DCBD-5BA9-45CEAE10A1B5}"/>
                  </a:ext>
                </a:extLst>
              </p:cNvPr>
              <p:cNvCxnSpPr/>
              <p:nvPr/>
            </p:nvCxnSpPr>
            <p:spPr>
              <a:xfrm flipV="1">
                <a:off x="17081770" y="3268494"/>
                <a:ext cx="1420239" cy="13813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73D5D836-3F6C-F4FB-30C3-D0552CD77BEA}"/>
                </a:ext>
              </a:extLst>
            </p:cNvPr>
            <p:cNvSpPr txBox="1"/>
            <p:nvPr/>
          </p:nvSpPr>
          <p:spPr>
            <a:xfrm>
              <a:off x="8001800" y="5287657"/>
              <a:ext cx="238004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Train</a:t>
              </a:r>
            </a:p>
          </p:txBody>
        </p:sp>
      </p:grpSp>
      <p:grpSp>
        <p:nvGrpSpPr>
          <p:cNvPr id="59" name="Group 58">
            <a:extLst>
              <a:ext uri="{FF2B5EF4-FFF2-40B4-BE49-F238E27FC236}">
                <a16:creationId xmlns:a16="http://schemas.microsoft.com/office/drawing/2014/main" id="{5F496FE3-BB81-71F1-3EAC-3F764A8BD3AD}"/>
              </a:ext>
            </a:extLst>
          </p:cNvPr>
          <p:cNvGrpSpPr/>
          <p:nvPr/>
        </p:nvGrpSpPr>
        <p:grpSpPr>
          <a:xfrm>
            <a:off x="34641" y="-54209"/>
            <a:ext cx="4085617" cy="8457979"/>
            <a:chOff x="916678" y="52844"/>
            <a:chExt cx="4085617" cy="8229600"/>
          </a:xfrm>
        </p:grpSpPr>
        <p:grpSp>
          <p:nvGrpSpPr>
            <p:cNvPr id="58" name="Group 57">
              <a:extLst>
                <a:ext uri="{FF2B5EF4-FFF2-40B4-BE49-F238E27FC236}">
                  <a16:creationId xmlns:a16="http://schemas.microsoft.com/office/drawing/2014/main" id="{7502B74D-F42E-BDC2-1D20-3C6DEB307DF9}"/>
                </a:ext>
              </a:extLst>
            </p:cNvPr>
            <p:cNvGrpSpPr/>
            <p:nvPr/>
          </p:nvGrpSpPr>
          <p:grpSpPr>
            <a:xfrm>
              <a:off x="916678" y="52844"/>
              <a:ext cx="4085617" cy="8229600"/>
              <a:chOff x="3620501" y="0"/>
              <a:chExt cx="4085617" cy="8229600"/>
            </a:xfrm>
          </p:grpSpPr>
          <p:grpSp>
            <p:nvGrpSpPr>
              <p:cNvPr id="29" name="Group 28">
                <a:extLst>
                  <a:ext uri="{FF2B5EF4-FFF2-40B4-BE49-F238E27FC236}">
                    <a16:creationId xmlns:a16="http://schemas.microsoft.com/office/drawing/2014/main" id="{AEC8868D-8BDE-F4BB-1878-C8AA3B551991}"/>
                  </a:ext>
                </a:extLst>
              </p:cNvPr>
              <p:cNvGrpSpPr/>
              <p:nvPr/>
            </p:nvGrpSpPr>
            <p:grpSpPr>
              <a:xfrm>
                <a:off x="3620501" y="0"/>
                <a:ext cx="4085617" cy="8229600"/>
                <a:chOff x="-1" y="0"/>
                <a:chExt cx="4085617" cy="8229600"/>
              </a:xfrm>
              <a:solidFill>
                <a:schemeClr val="tx2">
                  <a:lumMod val="50000"/>
                  <a:lumOff val="50000"/>
                </a:schemeClr>
              </a:solidFill>
            </p:grpSpPr>
            <p:sp>
              <p:nvSpPr>
                <p:cNvPr id="30" name="Rectangle 29">
                  <a:extLst>
                    <a:ext uri="{FF2B5EF4-FFF2-40B4-BE49-F238E27FC236}">
                      <a16:creationId xmlns:a16="http://schemas.microsoft.com/office/drawing/2014/main" id="{C2EFA17F-F9BB-DE4C-60A3-EFB2869E61B5}"/>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31" name="Isosceles Triangle 30">
                  <a:extLst>
                    <a:ext uri="{FF2B5EF4-FFF2-40B4-BE49-F238E27FC236}">
                      <a16:creationId xmlns:a16="http://schemas.microsoft.com/office/drawing/2014/main" id="{BBAE1B34-66B4-7530-E766-1D1FB54F412B}"/>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1F11AEED-F75B-C650-7A1C-A118E2593FCA}"/>
                  </a:ext>
                </a:extLst>
              </p:cNvPr>
              <p:cNvSpPr txBox="1"/>
              <p:nvPr/>
            </p:nvSpPr>
            <p:spPr>
              <a:xfrm>
                <a:off x="5206246"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2</a:t>
                </a:r>
              </a:p>
            </p:txBody>
          </p:sp>
          <p:sp>
            <p:nvSpPr>
              <p:cNvPr id="46" name="TextBox 45">
                <a:extLst>
                  <a:ext uri="{FF2B5EF4-FFF2-40B4-BE49-F238E27FC236}">
                    <a16:creationId xmlns:a16="http://schemas.microsoft.com/office/drawing/2014/main" id="{DDA9C037-52EA-7DE4-A164-2EB87214C0A0}"/>
                  </a:ext>
                </a:extLst>
              </p:cNvPr>
              <p:cNvSpPr txBox="1"/>
              <p:nvPr/>
            </p:nvSpPr>
            <p:spPr>
              <a:xfrm>
                <a:off x="5103012" y="5238764"/>
                <a:ext cx="1270477" cy="1015663"/>
              </a:xfrm>
              <a:prstGeom prst="rect">
                <a:avLst/>
              </a:prstGeom>
              <a:noFill/>
              <a:ln>
                <a:noFill/>
              </a:ln>
            </p:spPr>
            <p:txBody>
              <a:bodyPr wrap="square" rtlCol="0">
                <a:spAutoFit/>
              </a:bodyPr>
              <a:lstStyle/>
              <a:p>
                <a:r>
                  <a:rPr lang="en-US" sz="6000" dirty="0">
                    <a:solidFill>
                      <a:schemeClr val="bg1"/>
                    </a:solidFill>
                    <a:latin typeface="Consolas" panose="020B0609020204030204" pitchFamily="49" charset="0"/>
                  </a:rPr>
                  <a:t>ML</a:t>
                </a:r>
              </a:p>
            </p:txBody>
          </p:sp>
        </p:grpSp>
        <p:pic>
          <p:nvPicPr>
            <p:cNvPr id="45" name="Graphic 44" descr="Connections outline">
              <a:extLst>
                <a:ext uri="{FF2B5EF4-FFF2-40B4-BE49-F238E27FC236}">
                  <a16:creationId xmlns:a16="http://schemas.microsoft.com/office/drawing/2014/main" id="{4D45ABE0-13C0-8C05-E69B-038DC378D5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62400" y="2304842"/>
              <a:ext cx="2735663" cy="2735663"/>
            </a:xfrm>
            <a:prstGeom prst="rect">
              <a:avLst/>
            </a:prstGeom>
          </p:spPr>
        </p:pic>
      </p:grpSp>
      <p:grpSp>
        <p:nvGrpSpPr>
          <p:cNvPr id="53" name="Group 52">
            <a:extLst>
              <a:ext uri="{FF2B5EF4-FFF2-40B4-BE49-F238E27FC236}">
                <a16:creationId xmlns:a16="http://schemas.microsoft.com/office/drawing/2014/main" id="{AB40278E-4B13-7F56-0643-A3B3DF13B204}"/>
              </a:ext>
            </a:extLst>
          </p:cNvPr>
          <p:cNvGrpSpPr/>
          <p:nvPr/>
        </p:nvGrpSpPr>
        <p:grpSpPr>
          <a:xfrm>
            <a:off x="-3616273" y="-54208"/>
            <a:ext cx="4085617" cy="8485082"/>
            <a:chOff x="-18619" y="0"/>
            <a:chExt cx="4085617" cy="8229600"/>
          </a:xfrm>
        </p:grpSpPr>
        <p:grpSp>
          <p:nvGrpSpPr>
            <p:cNvPr id="25" name="Group 24">
              <a:extLst>
                <a:ext uri="{FF2B5EF4-FFF2-40B4-BE49-F238E27FC236}">
                  <a16:creationId xmlns:a16="http://schemas.microsoft.com/office/drawing/2014/main" id="{ACCA6618-6B26-3B05-506A-5E937FCE8147}"/>
                </a:ext>
              </a:extLst>
            </p:cNvPr>
            <p:cNvGrpSpPr/>
            <p:nvPr/>
          </p:nvGrpSpPr>
          <p:grpSpPr>
            <a:xfrm>
              <a:off x="-18619" y="0"/>
              <a:ext cx="4085617" cy="8229600"/>
              <a:chOff x="-1" y="0"/>
              <a:chExt cx="4085617" cy="8229600"/>
            </a:xfrm>
          </p:grpSpPr>
          <p:sp>
            <p:nvSpPr>
              <p:cNvPr id="19" name="Rectangle 18">
                <a:extLst>
                  <a:ext uri="{FF2B5EF4-FFF2-40B4-BE49-F238E27FC236}">
                    <a16:creationId xmlns:a16="http://schemas.microsoft.com/office/drawing/2014/main" id="{2D048FE1-8ABF-A96C-F140-CE3F3A060E9B}"/>
                  </a:ext>
                </a:extLst>
              </p:cNvPr>
              <p:cNvSpPr/>
              <p:nvPr/>
            </p:nvSpPr>
            <p:spPr>
              <a:xfrm>
                <a:off x="-1" y="0"/>
                <a:ext cx="3657600" cy="82296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24" name="Isosceles Triangle 23">
                <a:extLst>
                  <a:ext uri="{FF2B5EF4-FFF2-40B4-BE49-F238E27FC236}">
                    <a16:creationId xmlns:a16="http://schemas.microsoft.com/office/drawing/2014/main" id="{7B64A3D4-ECD6-73C9-1C55-3FA02B754217}"/>
                  </a:ext>
                </a:extLst>
              </p:cNvPr>
              <p:cNvSpPr/>
              <p:nvPr/>
            </p:nvSpPr>
            <p:spPr>
              <a:xfrm rot="5400000">
                <a:off x="3492230" y="632301"/>
                <a:ext cx="758756" cy="428017"/>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with solid fill">
              <a:extLst>
                <a:ext uri="{FF2B5EF4-FFF2-40B4-BE49-F238E27FC236}">
                  <a16:creationId xmlns:a16="http://schemas.microsoft.com/office/drawing/2014/main" id="{35A5101C-ACA8-88A6-628A-062212582ED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414" y="2452610"/>
              <a:ext cx="2459584" cy="2459584"/>
            </a:xfrm>
            <a:prstGeom prst="rect">
              <a:avLst/>
            </a:prstGeom>
          </p:spPr>
        </p:pic>
        <p:sp>
          <p:nvSpPr>
            <p:cNvPr id="8" name="TextBox 7">
              <a:extLst>
                <a:ext uri="{FF2B5EF4-FFF2-40B4-BE49-F238E27FC236}">
                  <a16:creationId xmlns:a16="http://schemas.microsoft.com/office/drawing/2014/main" id="{A5996639-111B-6CFE-3B6F-A4FB9C0DAED2}"/>
                </a:ext>
              </a:extLst>
            </p:cNvPr>
            <p:cNvSpPr txBox="1"/>
            <p:nvPr/>
          </p:nvSpPr>
          <p:spPr>
            <a:xfrm>
              <a:off x="881176" y="5238765"/>
              <a:ext cx="2036755"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Data</a:t>
              </a:r>
            </a:p>
          </p:txBody>
        </p:sp>
        <p:sp>
          <p:nvSpPr>
            <p:cNvPr id="38" name="TextBox 37">
              <a:extLst>
                <a:ext uri="{FF2B5EF4-FFF2-40B4-BE49-F238E27FC236}">
                  <a16:creationId xmlns:a16="http://schemas.microsoft.com/office/drawing/2014/main" id="{47F46185-BCB2-A48F-388D-FA0194480509}"/>
                </a:ext>
              </a:extLst>
            </p:cNvPr>
            <p:cNvSpPr txBox="1"/>
            <p:nvPr/>
          </p:nvSpPr>
          <p:spPr>
            <a:xfrm>
              <a:off x="1500852"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1</a:t>
              </a:r>
            </a:p>
          </p:txBody>
        </p:sp>
      </p:grpSp>
      <p:sp>
        <p:nvSpPr>
          <p:cNvPr id="2" name="TextBox 1">
            <a:extLst>
              <a:ext uri="{FF2B5EF4-FFF2-40B4-BE49-F238E27FC236}">
                <a16:creationId xmlns:a16="http://schemas.microsoft.com/office/drawing/2014/main" id="{CE70F1EA-AA7A-38D6-FC5B-0A707F63480B}"/>
              </a:ext>
            </a:extLst>
          </p:cNvPr>
          <p:cNvSpPr txBox="1"/>
          <p:nvPr/>
        </p:nvSpPr>
        <p:spPr>
          <a:xfrm>
            <a:off x="5573494" y="437953"/>
            <a:ext cx="7799325" cy="3170099"/>
          </a:xfrm>
          <a:prstGeom prst="rect">
            <a:avLst/>
          </a:prstGeom>
          <a:noFill/>
        </p:spPr>
        <p:txBody>
          <a:bodyPr wrap="square" rtlCol="0">
            <a:spAutoFit/>
          </a:bodyPr>
          <a:lstStyle/>
          <a:p>
            <a:r>
              <a:rPr lang="en-US" sz="5500" b="1" dirty="0">
                <a:solidFill>
                  <a:schemeClr val="tx2"/>
                </a:solidFill>
                <a:latin typeface="Consolas" panose="020B0609020204030204" pitchFamily="49" charset="0"/>
              </a:rPr>
              <a:t>ML</a:t>
            </a:r>
            <a:r>
              <a:rPr lang="en-US" sz="5500" b="1" baseline="-25000" dirty="0">
                <a:solidFill>
                  <a:schemeClr val="tx2"/>
                </a:solidFill>
                <a:latin typeface="Consolas" panose="020B0609020204030204" pitchFamily="49" charset="0"/>
              </a:rPr>
              <a:t>Machine Learning Algorithm</a:t>
            </a:r>
          </a:p>
          <a:p>
            <a:endParaRPr lang="en-US" sz="5500" b="1" dirty="0">
              <a:solidFill>
                <a:schemeClr val="tx2"/>
              </a:solidFill>
              <a:latin typeface="Consolas" panose="020B0609020204030204" pitchFamily="49" charset="0"/>
            </a:endParaRPr>
          </a:p>
          <a:p>
            <a:pPr marL="1600200" lvl="1" indent="-1143000">
              <a:buFont typeface="Arial" panose="020B0604020202020204" pitchFamily="34" charset="0"/>
              <a:buChar char="•"/>
            </a:pPr>
            <a:r>
              <a:rPr lang="en-US" sz="4500" dirty="0">
                <a:solidFill>
                  <a:schemeClr val="tx2"/>
                </a:solidFill>
                <a:latin typeface="Consolas" panose="020B0609020204030204" pitchFamily="49" charset="0"/>
              </a:rPr>
              <a:t>Supervised</a:t>
            </a:r>
          </a:p>
          <a:p>
            <a:pPr marL="1600200" lvl="1" indent="-1143000">
              <a:buFont typeface="Arial" panose="020B0604020202020204" pitchFamily="34" charset="0"/>
              <a:buChar char="•"/>
            </a:pPr>
            <a:r>
              <a:rPr lang="en-US" sz="4500" dirty="0">
                <a:solidFill>
                  <a:schemeClr val="tx2"/>
                </a:solidFill>
                <a:latin typeface="Consolas" panose="020B0609020204030204" pitchFamily="49" charset="0"/>
              </a:rPr>
              <a:t>Neural network</a:t>
            </a:r>
          </a:p>
        </p:txBody>
      </p:sp>
      <p:pic>
        <p:nvPicPr>
          <p:cNvPr id="13" name="Graphic 12">
            <a:extLst>
              <a:ext uri="{FF2B5EF4-FFF2-40B4-BE49-F238E27FC236}">
                <a16:creationId xmlns:a16="http://schemas.microsoft.com/office/drawing/2014/main" id="{9F9DA677-C98D-EFD6-D521-2B10A6ED88A0}"/>
              </a:ext>
            </a:extLst>
          </p:cNvPr>
          <p:cNvPicPr>
            <a:picLocks noChangeAspect="1"/>
          </p:cNvPicPr>
          <p:nvPr/>
        </p:nvPicPr>
        <p:blipFill>
          <a:blip r:embed="rId10">
            <a:extLst>
              <a:ext uri="{96DAC541-7B7A-43D3-8B79-37D633B846F1}">
                <asvg:svgBlip xmlns:asvg="http://schemas.microsoft.com/office/drawing/2016/SVG/main" r:embed="rId11"/>
              </a:ext>
              <a:ext uri="{837473B0-CC2E-450A-ABE3-18F120FF3D39}">
                <a1611:picAttrSrcUrl xmlns:a1611="http://schemas.microsoft.com/office/drawing/2016/11/main" r:id="rId12"/>
              </a:ext>
            </a:extLst>
          </a:blip>
          <a:stretch>
            <a:fillRect/>
          </a:stretch>
        </p:blipFill>
        <p:spPr>
          <a:xfrm rot="5400000">
            <a:off x="7714803" y="3626571"/>
            <a:ext cx="3148535" cy="4452816"/>
          </a:xfrm>
          <a:prstGeom prst="rect">
            <a:avLst/>
          </a:prstGeom>
        </p:spPr>
      </p:pic>
    </p:spTree>
    <p:extLst>
      <p:ext uri="{BB962C8B-B14F-4D97-AF65-F5344CB8AC3E}">
        <p14:creationId xmlns:p14="http://schemas.microsoft.com/office/powerpoint/2010/main" val="859130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D03B186B-463A-2455-0D23-2B9E17099688}"/>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CEE3F10A-55EF-499F-A28B-17985871CD33}"/>
              </a:ext>
            </a:extLst>
          </p:cNvPr>
          <p:cNvGrpSpPr/>
          <p:nvPr/>
        </p:nvGrpSpPr>
        <p:grpSpPr>
          <a:xfrm>
            <a:off x="730654" y="-27104"/>
            <a:ext cx="3728635" cy="8256704"/>
            <a:chOff x="10887105" y="0"/>
            <a:chExt cx="3728635" cy="8229600"/>
          </a:xfrm>
        </p:grpSpPr>
        <p:sp>
          <p:nvSpPr>
            <p:cNvPr id="22" name="Rectangle 21">
              <a:extLst>
                <a:ext uri="{FF2B5EF4-FFF2-40B4-BE49-F238E27FC236}">
                  <a16:creationId xmlns:a16="http://schemas.microsoft.com/office/drawing/2014/main" id="{D1355915-0A5F-C840-5CED-FD824979775C}"/>
                </a:ext>
              </a:extLst>
            </p:cNvPr>
            <p:cNvSpPr/>
            <p:nvPr/>
          </p:nvSpPr>
          <p:spPr>
            <a:xfrm>
              <a:off x="10887105" y="0"/>
              <a:ext cx="3728635" cy="82296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Gender with solid fill">
              <a:extLst>
                <a:ext uri="{FF2B5EF4-FFF2-40B4-BE49-F238E27FC236}">
                  <a16:creationId xmlns:a16="http://schemas.microsoft.com/office/drawing/2014/main" id="{9727E604-33EA-0F12-5D75-0F2089B7ED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21630" y="2406762"/>
              <a:ext cx="2459584" cy="2459584"/>
            </a:xfrm>
            <a:prstGeom prst="rect">
              <a:avLst/>
            </a:prstGeom>
          </p:spPr>
        </p:pic>
        <p:sp>
          <p:nvSpPr>
            <p:cNvPr id="11" name="TextBox 10">
              <a:extLst>
                <a:ext uri="{FF2B5EF4-FFF2-40B4-BE49-F238E27FC236}">
                  <a16:creationId xmlns:a16="http://schemas.microsoft.com/office/drawing/2014/main" id="{382B6319-3A48-3AE5-FBB0-A893067D6B49}"/>
                </a:ext>
              </a:extLst>
            </p:cNvPr>
            <p:cNvSpPr txBox="1"/>
            <p:nvPr/>
          </p:nvSpPr>
          <p:spPr>
            <a:xfrm>
              <a:off x="11459673" y="5345148"/>
              <a:ext cx="2975581"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Output</a:t>
              </a:r>
            </a:p>
          </p:txBody>
        </p:sp>
        <p:sp>
          <p:nvSpPr>
            <p:cNvPr id="41" name="TextBox 40">
              <a:extLst>
                <a:ext uri="{FF2B5EF4-FFF2-40B4-BE49-F238E27FC236}">
                  <a16:creationId xmlns:a16="http://schemas.microsoft.com/office/drawing/2014/main" id="{7D25159A-694F-B394-7047-A431348CDF0D}"/>
                </a:ext>
              </a:extLst>
            </p:cNvPr>
            <p:cNvSpPr txBox="1"/>
            <p:nvPr/>
          </p:nvSpPr>
          <p:spPr>
            <a:xfrm>
              <a:off x="12359887" y="537973"/>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4</a:t>
              </a:r>
            </a:p>
          </p:txBody>
        </p:sp>
      </p:grpSp>
      <p:grpSp>
        <p:nvGrpSpPr>
          <p:cNvPr id="60" name="Group 59">
            <a:extLst>
              <a:ext uri="{FF2B5EF4-FFF2-40B4-BE49-F238E27FC236}">
                <a16:creationId xmlns:a16="http://schemas.microsoft.com/office/drawing/2014/main" id="{A8E47114-9FCA-5FBB-42DB-D3FECED63CED}"/>
              </a:ext>
            </a:extLst>
          </p:cNvPr>
          <p:cNvGrpSpPr/>
          <p:nvPr/>
        </p:nvGrpSpPr>
        <p:grpSpPr>
          <a:xfrm>
            <a:off x="206508" y="0"/>
            <a:ext cx="4085617" cy="8432800"/>
            <a:chOff x="7266774" y="0"/>
            <a:chExt cx="4085617" cy="8229600"/>
          </a:xfrm>
        </p:grpSpPr>
        <p:grpSp>
          <p:nvGrpSpPr>
            <p:cNvPr id="32" name="Group 31">
              <a:extLst>
                <a:ext uri="{FF2B5EF4-FFF2-40B4-BE49-F238E27FC236}">
                  <a16:creationId xmlns:a16="http://schemas.microsoft.com/office/drawing/2014/main" id="{7948DCF9-38E0-24A5-EEB1-4B885909F764}"/>
                </a:ext>
              </a:extLst>
            </p:cNvPr>
            <p:cNvGrpSpPr/>
            <p:nvPr/>
          </p:nvGrpSpPr>
          <p:grpSpPr>
            <a:xfrm>
              <a:off x="7266774" y="0"/>
              <a:ext cx="4085617" cy="8229600"/>
              <a:chOff x="-1" y="0"/>
              <a:chExt cx="4085617" cy="8229600"/>
            </a:xfrm>
            <a:solidFill>
              <a:schemeClr val="tx2">
                <a:lumMod val="75000"/>
                <a:lumOff val="25000"/>
              </a:schemeClr>
            </a:solidFill>
          </p:grpSpPr>
          <p:sp>
            <p:nvSpPr>
              <p:cNvPr id="33" name="Rectangle 32">
                <a:extLst>
                  <a:ext uri="{FF2B5EF4-FFF2-40B4-BE49-F238E27FC236}">
                    <a16:creationId xmlns:a16="http://schemas.microsoft.com/office/drawing/2014/main" id="{7CD940AC-F406-71DC-E4AF-F49F7B3AA036}"/>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34" name="Isosceles Triangle 33">
                <a:extLst>
                  <a:ext uri="{FF2B5EF4-FFF2-40B4-BE49-F238E27FC236}">
                    <a16:creationId xmlns:a16="http://schemas.microsoft.com/office/drawing/2014/main" id="{E24DFD8C-A6D5-7225-410F-188CD4F96D04}"/>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C8D48AB7-D106-442B-ABD4-0431BC02D74D}"/>
                </a:ext>
              </a:extLst>
            </p:cNvPr>
            <p:cNvSpPr txBox="1"/>
            <p:nvPr/>
          </p:nvSpPr>
          <p:spPr>
            <a:xfrm>
              <a:off x="8809907" y="496161"/>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3</a:t>
              </a:r>
            </a:p>
          </p:txBody>
        </p:sp>
        <p:grpSp>
          <p:nvGrpSpPr>
            <p:cNvPr id="51" name="Group 50">
              <a:extLst>
                <a:ext uri="{FF2B5EF4-FFF2-40B4-BE49-F238E27FC236}">
                  <a16:creationId xmlns:a16="http://schemas.microsoft.com/office/drawing/2014/main" id="{2892BDE3-E426-6AF2-3DDA-4C554ED96D1E}"/>
                </a:ext>
              </a:extLst>
            </p:cNvPr>
            <p:cNvGrpSpPr/>
            <p:nvPr/>
          </p:nvGrpSpPr>
          <p:grpSpPr>
            <a:xfrm>
              <a:off x="7769446" y="2314570"/>
              <a:ext cx="2607525" cy="2548401"/>
              <a:chOff x="16488126" y="2796747"/>
              <a:chExt cx="2607525" cy="2548401"/>
            </a:xfrm>
          </p:grpSpPr>
          <p:pic>
            <p:nvPicPr>
              <p:cNvPr id="48" name="Graphic 47" descr="Scatterplot outline">
                <a:extLst>
                  <a:ext uri="{FF2B5EF4-FFF2-40B4-BE49-F238E27FC236}">
                    <a16:creationId xmlns:a16="http://schemas.microsoft.com/office/drawing/2014/main" id="{7CEF86BF-002B-6F6E-1336-F5C8840A3B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488126" y="2796747"/>
                <a:ext cx="2607525" cy="2548401"/>
              </a:xfrm>
              <a:prstGeom prst="rect">
                <a:avLst/>
              </a:prstGeom>
            </p:spPr>
          </p:pic>
          <p:cxnSp>
            <p:nvCxnSpPr>
              <p:cNvPr id="50" name="Straight Connector 49">
                <a:extLst>
                  <a:ext uri="{FF2B5EF4-FFF2-40B4-BE49-F238E27FC236}">
                    <a16:creationId xmlns:a16="http://schemas.microsoft.com/office/drawing/2014/main" id="{ED20C67D-E56A-BBC9-2801-802EEECE0328}"/>
                  </a:ext>
                </a:extLst>
              </p:cNvPr>
              <p:cNvCxnSpPr/>
              <p:nvPr/>
            </p:nvCxnSpPr>
            <p:spPr>
              <a:xfrm flipV="1">
                <a:off x="17081770" y="3268494"/>
                <a:ext cx="1420239" cy="13813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00513EA3-C550-F776-6915-A16A3F916AEF}"/>
                </a:ext>
              </a:extLst>
            </p:cNvPr>
            <p:cNvSpPr txBox="1"/>
            <p:nvPr/>
          </p:nvSpPr>
          <p:spPr>
            <a:xfrm>
              <a:off x="8001800" y="5287657"/>
              <a:ext cx="2380047" cy="1015663"/>
            </a:xfrm>
            <a:prstGeom prst="rect">
              <a:avLst/>
            </a:prstGeom>
            <a:noFill/>
            <a:ln>
              <a:noFill/>
            </a:ln>
          </p:spPr>
          <p:txBody>
            <a:bodyPr wrap="square" rtlCol="0">
              <a:spAutoFit/>
            </a:bodyPr>
            <a:lstStyle/>
            <a:p>
              <a:r>
                <a:rPr lang="en-US" sz="6000" dirty="0">
                  <a:solidFill>
                    <a:schemeClr val="bg1"/>
                  </a:solidFill>
                  <a:latin typeface="Consolas" panose="020B0609020204030204" pitchFamily="49" charset="0"/>
                </a:rPr>
                <a:t>Train</a:t>
              </a:r>
            </a:p>
          </p:txBody>
        </p:sp>
      </p:grpSp>
      <p:grpSp>
        <p:nvGrpSpPr>
          <p:cNvPr id="59" name="Group 58">
            <a:extLst>
              <a:ext uri="{FF2B5EF4-FFF2-40B4-BE49-F238E27FC236}">
                <a16:creationId xmlns:a16="http://schemas.microsoft.com/office/drawing/2014/main" id="{2B94728D-02E5-10D6-F2BC-0F4C38DE8DF6}"/>
              </a:ext>
            </a:extLst>
          </p:cNvPr>
          <p:cNvGrpSpPr/>
          <p:nvPr/>
        </p:nvGrpSpPr>
        <p:grpSpPr>
          <a:xfrm>
            <a:off x="-3124877" y="-27104"/>
            <a:ext cx="4085617" cy="8459904"/>
            <a:chOff x="916678" y="52844"/>
            <a:chExt cx="4085617" cy="8229600"/>
          </a:xfrm>
        </p:grpSpPr>
        <p:grpSp>
          <p:nvGrpSpPr>
            <p:cNvPr id="58" name="Group 57">
              <a:extLst>
                <a:ext uri="{FF2B5EF4-FFF2-40B4-BE49-F238E27FC236}">
                  <a16:creationId xmlns:a16="http://schemas.microsoft.com/office/drawing/2014/main" id="{CBD28308-6ADD-C550-9E8F-89E31B4BCC62}"/>
                </a:ext>
              </a:extLst>
            </p:cNvPr>
            <p:cNvGrpSpPr/>
            <p:nvPr/>
          </p:nvGrpSpPr>
          <p:grpSpPr>
            <a:xfrm>
              <a:off x="916678" y="52844"/>
              <a:ext cx="4085617" cy="8229600"/>
              <a:chOff x="3620501" y="0"/>
              <a:chExt cx="4085617" cy="8229600"/>
            </a:xfrm>
          </p:grpSpPr>
          <p:grpSp>
            <p:nvGrpSpPr>
              <p:cNvPr id="29" name="Group 28">
                <a:extLst>
                  <a:ext uri="{FF2B5EF4-FFF2-40B4-BE49-F238E27FC236}">
                    <a16:creationId xmlns:a16="http://schemas.microsoft.com/office/drawing/2014/main" id="{A1881A5E-F85E-2259-F7AE-5B1E8CFE49CF}"/>
                  </a:ext>
                </a:extLst>
              </p:cNvPr>
              <p:cNvGrpSpPr/>
              <p:nvPr/>
            </p:nvGrpSpPr>
            <p:grpSpPr>
              <a:xfrm>
                <a:off x="3620501" y="0"/>
                <a:ext cx="4085617" cy="8229600"/>
                <a:chOff x="-1" y="0"/>
                <a:chExt cx="4085617" cy="8229600"/>
              </a:xfrm>
              <a:solidFill>
                <a:schemeClr val="tx2">
                  <a:lumMod val="50000"/>
                  <a:lumOff val="50000"/>
                </a:schemeClr>
              </a:solidFill>
            </p:grpSpPr>
            <p:sp>
              <p:nvSpPr>
                <p:cNvPr id="30" name="Rectangle 29">
                  <a:extLst>
                    <a:ext uri="{FF2B5EF4-FFF2-40B4-BE49-F238E27FC236}">
                      <a16:creationId xmlns:a16="http://schemas.microsoft.com/office/drawing/2014/main" id="{97264A0B-BD02-E94F-BA5E-E452489603F8}"/>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31" name="Isosceles Triangle 30">
                  <a:extLst>
                    <a:ext uri="{FF2B5EF4-FFF2-40B4-BE49-F238E27FC236}">
                      <a16:creationId xmlns:a16="http://schemas.microsoft.com/office/drawing/2014/main" id="{CDDFE9FD-2065-1B3D-F284-5796A8F6C525}"/>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5778AB05-C838-3EF5-9B96-331A03D33A7C}"/>
                  </a:ext>
                </a:extLst>
              </p:cNvPr>
              <p:cNvSpPr txBox="1"/>
              <p:nvPr/>
            </p:nvSpPr>
            <p:spPr>
              <a:xfrm>
                <a:off x="5206246"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2</a:t>
                </a:r>
              </a:p>
            </p:txBody>
          </p:sp>
          <p:sp>
            <p:nvSpPr>
              <p:cNvPr id="46" name="TextBox 45">
                <a:extLst>
                  <a:ext uri="{FF2B5EF4-FFF2-40B4-BE49-F238E27FC236}">
                    <a16:creationId xmlns:a16="http://schemas.microsoft.com/office/drawing/2014/main" id="{686E6B7B-41F4-2BAC-F797-26E522EEAD41}"/>
                  </a:ext>
                </a:extLst>
              </p:cNvPr>
              <p:cNvSpPr txBox="1"/>
              <p:nvPr/>
            </p:nvSpPr>
            <p:spPr>
              <a:xfrm>
                <a:off x="5103012" y="5238764"/>
                <a:ext cx="127047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ML</a:t>
                </a:r>
              </a:p>
            </p:txBody>
          </p:sp>
        </p:grpSp>
        <p:pic>
          <p:nvPicPr>
            <p:cNvPr id="45" name="Graphic 44" descr="Connections outline">
              <a:extLst>
                <a:ext uri="{FF2B5EF4-FFF2-40B4-BE49-F238E27FC236}">
                  <a16:creationId xmlns:a16="http://schemas.microsoft.com/office/drawing/2014/main" id="{4D9CE7C7-C93B-34AB-C61D-384ED623CD7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62400" y="2304842"/>
              <a:ext cx="2735663" cy="2735663"/>
            </a:xfrm>
            <a:prstGeom prst="rect">
              <a:avLst/>
            </a:prstGeom>
          </p:spPr>
        </p:pic>
      </p:grpSp>
      <p:grpSp>
        <p:nvGrpSpPr>
          <p:cNvPr id="53" name="Group 52">
            <a:extLst>
              <a:ext uri="{FF2B5EF4-FFF2-40B4-BE49-F238E27FC236}">
                <a16:creationId xmlns:a16="http://schemas.microsoft.com/office/drawing/2014/main" id="{3B5B49D1-09AB-D4D7-935B-C72230EEEA18}"/>
              </a:ext>
            </a:extLst>
          </p:cNvPr>
          <p:cNvGrpSpPr/>
          <p:nvPr/>
        </p:nvGrpSpPr>
        <p:grpSpPr>
          <a:xfrm>
            <a:off x="-3581941" y="-27104"/>
            <a:ext cx="4085617" cy="8459904"/>
            <a:chOff x="-18619" y="0"/>
            <a:chExt cx="4085617" cy="8229600"/>
          </a:xfrm>
        </p:grpSpPr>
        <p:grpSp>
          <p:nvGrpSpPr>
            <p:cNvPr id="25" name="Group 24">
              <a:extLst>
                <a:ext uri="{FF2B5EF4-FFF2-40B4-BE49-F238E27FC236}">
                  <a16:creationId xmlns:a16="http://schemas.microsoft.com/office/drawing/2014/main" id="{0B2FE6B1-AF66-2FE7-BD31-1F0798E75F9B}"/>
                </a:ext>
              </a:extLst>
            </p:cNvPr>
            <p:cNvGrpSpPr/>
            <p:nvPr/>
          </p:nvGrpSpPr>
          <p:grpSpPr>
            <a:xfrm>
              <a:off x="-18619" y="0"/>
              <a:ext cx="4085617" cy="8229600"/>
              <a:chOff x="-1" y="0"/>
              <a:chExt cx="4085617" cy="8229600"/>
            </a:xfrm>
          </p:grpSpPr>
          <p:sp>
            <p:nvSpPr>
              <p:cNvPr id="19" name="Rectangle 18">
                <a:extLst>
                  <a:ext uri="{FF2B5EF4-FFF2-40B4-BE49-F238E27FC236}">
                    <a16:creationId xmlns:a16="http://schemas.microsoft.com/office/drawing/2014/main" id="{4C7F8132-E71E-62A0-B458-832B756190E6}"/>
                  </a:ext>
                </a:extLst>
              </p:cNvPr>
              <p:cNvSpPr/>
              <p:nvPr/>
            </p:nvSpPr>
            <p:spPr>
              <a:xfrm>
                <a:off x="-1" y="0"/>
                <a:ext cx="3657600" cy="82296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24" name="Isosceles Triangle 23">
                <a:extLst>
                  <a:ext uri="{FF2B5EF4-FFF2-40B4-BE49-F238E27FC236}">
                    <a16:creationId xmlns:a16="http://schemas.microsoft.com/office/drawing/2014/main" id="{214720C5-C0F4-050D-2711-BB26A1E55BE8}"/>
                  </a:ext>
                </a:extLst>
              </p:cNvPr>
              <p:cNvSpPr/>
              <p:nvPr/>
            </p:nvSpPr>
            <p:spPr>
              <a:xfrm rot="5400000">
                <a:off x="3492230" y="632301"/>
                <a:ext cx="758756" cy="428017"/>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with solid fill">
              <a:extLst>
                <a:ext uri="{FF2B5EF4-FFF2-40B4-BE49-F238E27FC236}">
                  <a16:creationId xmlns:a16="http://schemas.microsoft.com/office/drawing/2014/main" id="{40CC1763-06CD-A5E5-5EA9-98F0EAF4911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414" y="2452610"/>
              <a:ext cx="2459584" cy="2459584"/>
            </a:xfrm>
            <a:prstGeom prst="rect">
              <a:avLst/>
            </a:prstGeom>
          </p:spPr>
        </p:pic>
        <p:sp>
          <p:nvSpPr>
            <p:cNvPr id="8" name="TextBox 7">
              <a:extLst>
                <a:ext uri="{FF2B5EF4-FFF2-40B4-BE49-F238E27FC236}">
                  <a16:creationId xmlns:a16="http://schemas.microsoft.com/office/drawing/2014/main" id="{375BE527-B96E-7A4B-48B8-1001D986E741}"/>
                </a:ext>
              </a:extLst>
            </p:cNvPr>
            <p:cNvSpPr txBox="1"/>
            <p:nvPr/>
          </p:nvSpPr>
          <p:spPr>
            <a:xfrm>
              <a:off x="881176" y="5238765"/>
              <a:ext cx="2036755"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Data</a:t>
              </a:r>
            </a:p>
          </p:txBody>
        </p:sp>
        <p:sp>
          <p:nvSpPr>
            <p:cNvPr id="38" name="TextBox 37">
              <a:extLst>
                <a:ext uri="{FF2B5EF4-FFF2-40B4-BE49-F238E27FC236}">
                  <a16:creationId xmlns:a16="http://schemas.microsoft.com/office/drawing/2014/main" id="{597B0655-57FD-77FE-63C2-E99C08218FCB}"/>
                </a:ext>
              </a:extLst>
            </p:cNvPr>
            <p:cNvSpPr txBox="1"/>
            <p:nvPr/>
          </p:nvSpPr>
          <p:spPr>
            <a:xfrm>
              <a:off x="1500852"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1</a:t>
              </a:r>
            </a:p>
          </p:txBody>
        </p:sp>
      </p:grpSp>
      <p:sp>
        <p:nvSpPr>
          <p:cNvPr id="2" name="TextBox 1">
            <a:extLst>
              <a:ext uri="{FF2B5EF4-FFF2-40B4-BE49-F238E27FC236}">
                <a16:creationId xmlns:a16="http://schemas.microsoft.com/office/drawing/2014/main" id="{858DCAB6-E742-A0E9-C94A-84051D2B66B0}"/>
              </a:ext>
            </a:extLst>
          </p:cNvPr>
          <p:cNvSpPr txBox="1"/>
          <p:nvPr/>
        </p:nvSpPr>
        <p:spPr>
          <a:xfrm>
            <a:off x="5478276" y="819205"/>
            <a:ext cx="8347726" cy="3785652"/>
          </a:xfrm>
          <a:prstGeom prst="rect">
            <a:avLst/>
          </a:prstGeom>
          <a:noFill/>
        </p:spPr>
        <p:txBody>
          <a:bodyPr wrap="square" rtlCol="0">
            <a:spAutoFit/>
          </a:bodyPr>
          <a:lstStyle/>
          <a:p>
            <a:r>
              <a:rPr lang="en-US" sz="6000" b="1" dirty="0">
                <a:solidFill>
                  <a:schemeClr val="tx2"/>
                </a:solidFill>
                <a:latin typeface="Consolas" panose="020B0609020204030204" pitchFamily="49" charset="0"/>
              </a:rPr>
              <a:t>Training process</a:t>
            </a:r>
          </a:p>
          <a:p>
            <a:pPr marL="1600200" lvl="1" indent="-1143000">
              <a:buFont typeface="Arial" panose="020B0604020202020204" pitchFamily="34" charset="0"/>
              <a:buChar char="•"/>
            </a:pPr>
            <a:r>
              <a:rPr lang="en-US" sz="4500" dirty="0">
                <a:solidFill>
                  <a:schemeClr val="tx2"/>
                </a:solidFill>
                <a:latin typeface="Consolas" panose="020B0609020204030204" pitchFamily="49" charset="0"/>
              </a:rPr>
              <a:t>Split dataset</a:t>
            </a:r>
          </a:p>
          <a:p>
            <a:pPr marL="1600200" lvl="1" indent="-1143000">
              <a:buFont typeface="Arial" panose="020B0604020202020204" pitchFamily="34" charset="0"/>
              <a:buChar char="•"/>
            </a:pPr>
            <a:r>
              <a:rPr lang="en-US" sz="4500" dirty="0">
                <a:solidFill>
                  <a:schemeClr val="tx2"/>
                </a:solidFill>
                <a:latin typeface="Consolas" panose="020B0609020204030204" pitchFamily="49" charset="0"/>
              </a:rPr>
              <a:t>Feature extraction</a:t>
            </a:r>
          </a:p>
          <a:p>
            <a:pPr marL="1600200" lvl="1" indent="-1143000">
              <a:buFont typeface="Arial" panose="020B0604020202020204" pitchFamily="34" charset="0"/>
              <a:buChar char="•"/>
            </a:pPr>
            <a:r>
              <a:rPr lang="en-US" sz="4500" dirty="0">
                <a:solidFill>
                  <a:schemeClr val="tx2"/>
                </a:solidFill>
                <a:latin typeface="Consolas" panose="020B0609020204030204" pitchFamily="49" charset="0"/>
              </a:rPr>
              <a:t>Validation</a:t>
            </a:r>
          </a:p>
          <a:p>
            <a:pPr marL="1600200" lvl="1" indent="-1143000">
              <a:buFont typeface="Arial" panose="020B0604020202020204" pitchFamily="34" charset="0"/>
              <a:buChar char="•"/>
            </a:pPr>
            <a:r>
              <a:rPr lang="en-US" sz="4500" dirty="0">
                <a:solidFill>
                  <a:schemeClr val="tx2"/>
                </a:solidFill>
                <a:latin typeface="Consolas" panose="020B0609020204030204" pitchFamily="49" charset="0"/>
              </a:rPr>
              <a:t>Accuracy</a:t>
            </a:r>
          </a:p>
        </p:txBody>
      </p:sp>
    </p:spTree>
    <p:extLst>
      <p:ext uri="{BB962C8B-B14F-4D97-AF65-F5344CB8AC3E}">
        <p14:creationId xmlns:p14="http://schemas.microsoft.com/office/powerpoint/2010/main" val="3483886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D9D578D1-01CE-1CD4-621B-DFE67C33526C}"/>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87A44A1B-FA9D-648F-57C9-B13DB1FCF391}"/>
              </a:ext>
            </a:extLst>
          </p:cNvPr>
          <p:cNvGrpSpPr/>
          <p:nvPr/>
        </p:nvGrpSpPr>
        <p:grpSpPr>
          <a:xfrm>
            <a:off x="955777" y="-27104"/>
            <a:ext cx="3728635" cy="8416358"/>
            <a:chOff x="10887105" y="0"/>
            <a:chExt cx="3728635" cy="8229600"/>
          </a:xfrm>
        </p:grpSpPr>
        <p:sp>
          <p:nvSpPr>
            <p:cNvPr id="22" name="Rectangle 21">
              <a:extLst>
                <a:ext uri="{FF2B5EF4-FFF2-40B4-BE49-F238E27FC236}">
                  <a16:creationId xmlns:a16="http://schemas.microsoft.com/office/drawing/2014/main" id="{7E2891F5-3F3E-8F6A-21C4-966DF18D7FBA}"/>
                </a:ext>
              </a:extLst>
            </p:cNvPr>
            <p:cNvSpPr/>
            <p:nvPr/>
          </p:nvSpPr>
          <p:spPr>
            <a:xfrm>
              <a:off x="10887105" y="0"/>
              <a:ext cx="3728635" cy="82296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Gender with solid fill">
              <a:extLst>
                <a:ext uri="{FF2B5EF4-FFF2-40B4-BE49-F238E27FC236}">
                  <a16:creationId xmlns:a16="http://schemas.microsoft.com/office/drawing/2014/main" id="{27B7BA40-EE02-8A95-8D57-F2D3B03EBD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21630" y="2406762"/>
              <a:ext cx="2459584" cy="2459584"/>
            </a:xfrm>
            <a:prstGeom prst="rect">
              <a:avLst/>
            </a:prstGeom>
          </p:spPr>
        </p:pic>
        <p:sp>
          <p:nvSpPr>
            <p:cNvPr id="11" name="TextBox 10">
              <a:extLst>
                <a:ext uri="{FF2B5EF4-FFF2-40B4-BE49-F238E27FC236}">
                  <a16:creationId xmlns:a16="http://schemas.microsoft.com/office/drawing/2014/main" id="{58C81C09-D33D-1A2C-7D1C-93E879E31175}"/>
                </a:ext>
              </a:extLst>
            </p:cNvPr>
            <p:cNvSpPr txBox="1"/>
            <p:nvPr/>
          </p:nvSpPr>
          <p:spPr>
            <a:xfrm>
              <a:off x="11459673" y="5345148"/>
              <a:ext cx="2975581" cy="1015663"/>
            </a:xfrm>
            <a:prstGeom prst="rect">
              <a:avLst/>
            </a:prstGeom>
            <a:noFill/>
          </p:spPr>
          <p:txBody>
            <a:bodyPr wrap="square" rtlCol="0">
              <a:spAutoFit/>
            </a:bodyPr>
            <a:lstStyle/>
            <a:p>
              <a:r>
                <a:rPr lang="en-US" sz="6000" dirty="0">
                  <a:solidFill>
                    <a:schemeClr val="bg1"/>
                  </a:solidFill>
                  <a:latin typeface="Consolas" panose="020B0609020204030204" pitchFamily="49" charset="0"/>
                </a:rPr>
                <a:t>Output</a:t>
              </a:r>
            </a:p>
          </p:txBody>
        </p:sp>
        <p:sp>
          <p:nvSpPr>
            <p:cNvPr id="41" name="TextBox 40">
              <a:extLst>
                <a:ext uri="{FF2B5EF4-FFF2-40B4-BE49-F238E27FC236}">
                  <a16:creationId xmlns:a16="http://schemas.microsoft.com/office/drawing/2014/main" id="{3B48CC4F-4E1F-92BF-E5E3-A8C3AC61F124}"/>
                </a:ext>
              </a:extLst>
            </p:cNvPr>
            <p:cNvSpPr txBox="1"/>
            <p:nvPr/>
          </p:nvSpPr>
          <p:spPr>
            <a:xfrm>
              <a:off x="12359887" y="537973"/>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4</a:t>
              </a:r>
            </a:p>
          </p:txBody>
        </p:sp>
      </p:grpSp>
      <p:grpSp>
        <p:nvGrpSpPr>
          <p:cNvPr id="60" name="Group 59">
            <a:extLst>
              <a:ext uri="{FF2B5EF4-FFF2-40B4-BE49-F238E27FC236}">
                <a16:creationId xmlns:a16="http://schemas.microsoft.com/office/drawing/2014/main" id="{602CB541-CFEF-2D19-552B-193510949007}"/>
              </a:ext>
            </a:extLst>
          </p:cNvPr>
          <p:cNvGrpSpPr/>
          <p:nvPr/>
        </p:nvGrpSpPr>
        <p:grpSpPr>
          <a:xfrm>
            <a:off x="-2556391" y="-27105"/>
            <a:ext cx="4085617" cy="8416359"/>
            <a:chOff x="7266774" y="0"/>
            <a:chExt cx="4085617" cy="8229600"/>
          </a:xfrm>
        </p:grpSpPr>
        <p:grpSp>
          <p:nvGrpSpPr>
            <p:cNvPr id="32" name="Group 31">
              <a:extLst>
                <a:ext uri="{FF2B5EF4-FFF2-40B4-BE49-F238E27FC236}">
                  <a16:creationId xmlns:a16="http://schemas.microsoft.com/office/drawing/2014/main" id="{F2F72309-49CF-8721-C8BA-79F1C41B20AF}"/>
                </a:ext>
              </a:extLst>
            </p:cNvPr>
            <p:cNvGrpSpPr/>
            <p:nvPr/>
          </p:nvGrpSpPr>
          <p:grpSpPr>
            <a:xfrm>
              <a:off x="7266774" y="0"/>
              <a:ext cx="4085617" cy="8229600"/>
              <a:chOff x="-1" y="0"/>
              <a:chExt cx="4085617" cy="8229600"/>
            </a:xfrm>
            <a:solidFill>
              <a:schemeClr val="tx2">
                <a:lumMod val="75000"/>
                <a:lumOff val="25000"/>
              </a:schemeClr>
            </a:solidFill>
          </p:grpSpPr>
          <p:sp>
            <p:nvSpPr>
              <p:cNvPr id="33" name="Rectangle 32">
                <a:extLst>
                  <a:ext uri="{FF2B5EF4-FFF2-40B4-BE49-F238E27FC236}">
                    <a16:creationId xmlns:a16="http://schemas.microsoft.com/office/drawing/2014/main" id="{CF978D19-CB5F-2C76-CE04-70F68EB9D8CA}"/>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34" name="Isosceles Triangle 33">
                <a:extLst>
                  <a:ext uri="{FF2B5EF4-FFF2-40B4-BE49-F238E27FC236}">
                    <a16:creationId xmlns:a16="http://schemas.microsoft.com/office/drawing/2014/main" id="{6F40948B-7700-FA5C-CB76-9E4C431ADAE8}"/>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33B4844A-81D0-FC38-CE77-4874EFE06B0C}"/>
                </a:ext>
              </a:extLst>
            </p:cNvPr>
            <p:cNvSpPr txBox="1"/>
            <p:nvPr/>
          </p:nvSpPr>
          <p:spPr>
            <a:xfrm>
              <a:off x="8809907" y="496161"/>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3</a:t>
              </a:r>
            </a:p>
          </p:txBody>
        </p:sp>
        <p:grpSp>
          <p:nvGrpSpPr>
            <p:cNvPr id="51" name="Group 50">
              <a:extLst>
                <a:ext uri="{FF2B5EF4-FFF2-40B4-BE49-F238E27FC236}">
                  <a16:creationId xmlns:a16="http://schemas.microsoft.com/office/drawing/2014/main" id="{07034A22-3C1A-342F-66FB-65E76629DEBE}"/>
                </a:ext>
              </a:extLst>
            </p:cNvPr>
            <p:cNvGrpSpPr/>
            <p:nvPr/>
          </p:nvGrpSpPr>
          <p:grpSpPr>
            <a:xfrm>
              <a:off x="7769446" y="2314570"/>
              <a:ext cx="2607525" cy="2548401"/>
              <a:chOff x="16488126" y="2796747"/>
              <a:chExt cx="2607525" cy="2548401"/>
            </a:xfrm>
          </p:grpSpPr>
          <p:pic>
            <p:nvPicPr>
              <p:cNvPr id="48" name="Graphic 47" descr="Scatterplot outline">
                <a:extLst>
                  <a:ext uri="{FF2B5EF4-FFF2-40B4-BE49-F238E27FC236}">
                    <a16:creationId xmlns:a16="http://schemas.microsoft.com/office/drawing/2014/main" id="{75A30798-8D34-F73E-BCCB-6FAD2C2DBC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488126" y="2796747"/>
                <a:ext cx="2607525" cy="2548401"/>
              </a:xfrm>
              <a:prstGeom prst="rect">
                <a:avLst/>
              </a:prstGeom>
            </p:spPr>
          </p:pic>
          <p:cxnSp>
            <p:nvCxnSpPr>
              <p:cNvPr id="50" name="Straight Connector 49">
                <a:extLst>
                  <a:ext uri="{FF2B5EF4-FFF2-40B4-BE49-F238E27FC236}">
                    <a16:creationId xmlns:a16="http://schemas.microsoft.com/office/drawing/2014/main" id="{AE943CB5-B288-E5DA-287A-B96B5C933136}"/>
                  </a:ext>
                </a:extLst>
              </p:cNvPr>
              <p:cNvCxnSpPr/>
              <p:nvPr/>
            </p:nvCxnSpPr>
            <p:spPr>
              <a:xfrm flipV="1">
                <a:off x="17081770" y="3268494"/>
                <a:ext cx="1420239" cy="13813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E7BCADF3-5445-B315-B727-71EC9BB84BEC}"/>
                </a:ext>
              </a:extLst>
            </p:cNvPr>
            <p:cNvSpPr txBox="1"/>
            <p:nvPr/>
          </p:nvSpPr>
          <p:spPr>
            <a:xfrm>
              <a:off x="8001800" y="5287657"/>
              <a:ext cx="238004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Train</a:t>
              </a:r>
            </a:p>
          </p:txBody>
        </p:sp>
      </p:grpSp>
      <p:grpSp>
        <p:nvGrpSpPr>
          <p:cNvPr id="59" name="Group 58">
            <a:extLst>
              <a:ext uri="{FF2B5EF4-FFF2-40B4-BE49-F238E27FC236}">
                <a16:creationId xmlns:a16="http://schemas.microsoft.com/office/drawing/2014/main" id="{8AE5783F-6EC3-926B-0BFB-84FA2EB3CB9B}"/>
              </a:ext>
            </a:extLst>
          </p:cNvPr>
          <p:cNvGrpSpPr/>
          <p:nvPr/>
        </p:nvGrpSpPr>
        <p:grpSpPr>
          <a:xfrm>
            <a:off x="-3164894" y="-27104"/>
            <a:ext cx="4085617" cy="8416360"/>
            <a:chOff x="916678" y="52844"/>
            <a:chExt cx="4085617" cy="8229600"/>
          </a:xfrm>
        </p:grpSpPr>
        <p:grpSp>
          <p:nvGrpSpPr>
            <p:cNvPr id="58" name="Group 57">
              <a:extLst>
                <a:ext uri="{FF2B5EF4-FFF2-40B4-BE49-F238E27FC236}">
                  <a16:creationId xmlns:a16="http://schemas.microsoft.com/office/drawing/2014/main" id="{C99171F8-2352-0733-D271-AF9BE570EBAD}"/>
                </a:ext>
              </a:extLst>
            </p:cNvPr>
            <p:cNvGrpSpPr/>
            <p:nvPr/>
          </p:nvGrpSpPr>
          <p:grpSpPr>
            <a:xfrm>
              <a:off x="916678" y="52844"/>
              <a:ext cx="4085617" cy="8229600"/>
              <a:chOff x="3620501" y="0"/>
              <a:chExt cx="4085617" cy="8229600"/>
            </a:xfrm>
          </p:grpSpPr>
          <p:grpSp>
            <p:nvGrpSpPr>
              <p:cNvPr id="29" name="Group 28">
                <a:extLst>
                  <a:ext uri="{FF2B5EF4-FFF2-40B4-BE49-F238E27FC236}">
                    <a16:creationId xmlns:a16="http://schemas.microsoft.com/office/drawing/2014/main" id="{ABBCC5CD-0CCF-67EA-A2F3-1EC1432D8AD2}"/>
                  </a:ext>
                </a:extLst>
              </p:cNvPr>
              <p:cNvGrpSpPr/>
              <p:nvPr/>
            </p:nvGrpSpPr>
            <p:grpSpPr>
              <a:xfrm>
                <a:off x="3620501" y="0"/>
                <a:ext cx="4085617" cy="8229600"/>
                <a:chOff x="-1" y="0"/>
                <a:chExt cx="4085617" cy="8229600"/>
              </a:xfrm>
              <a:solidFill>
                <a:schemeClr val="tx2">
                  <a:lumMod val="50000"/>
                  <a:lumOff val="50000"/>
                </a:schemeClr>
              </a:solidFill>
            </p:grpSpPr>
            <p:sp>
              <p:nvSpPr>
                <p:cNvPr id="30" name="Rectangle 29">
                  <a:extLst>
                    <a:ext uri="{FF2B5EF4-FFF2-40B4-BE49-F238E27FC236}">
                      <a16:creationId xmlns:a16="http://schemas.microsoft.com/office/drawing/2014/main" id="{F893D9A6-0AF1-163D-16EA-8521FCA0BF3E}"/>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31" name="Isosceles Triangle 30">
                  <a:extLst>
                    <a:ext uri="{FF2B5EF4-FFF2-40B4-BE49-F238E27FC236}">
                      <a16:creationId xmlns:a16="http://schemas.microsoft.com/office/drawing/2014/main" id="{3D84BFCF-6557-007F-47B2-8BBFA25D026D}"/>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FD07E2E9-11AB-621B-F9BA-F732C1307B46}"/>
                  </a:ext>
                </a:extLst>
              </p:cNvPr>
              <p:cNvSpPr txBox="1"/>
              <p:nvPr/>
            </p:nvSpPr>
            <p:spPr>
              <a:xfrm>
                <a:off x="5206246"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2</a:t>
                </a:r>
              </a:p>
            </p:txBody>
          </p:sp>
          <p:sp>
            <p:nvSpPr>
              <p:cNvPr id="46" name="TextBox 45">
                <a:extLst>
                  <a:ext uri="{FF2B5EF4-FFF2-40B4-BE49-F238E27FC236}">
                    <a16:creationId xmlns:a16="http://schemas.microsoft.com/office/drawing/2014/main" id="{2F3740F9-73E6-17FF-FAD4-A76B4C14AD7F}"/>
                  </a:ext>
                </a:extLst>
              </p:cNvPr>
              <p:cNvSpPr txBox="1"/>
              <p:nvPr/>
            </p:nvSpPr>
            <p:spPr>
              <a:xfrm>
                <a:off x="5103012" y="5238764"/>
                <a:ext cx="127047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ML</a:t>
                </a:r>
              </a:p>
            </p:txBody>
          </p:sp>
        </p:grpSp>
        <p:pic>
          <p:nvPicPr>
            <p:cNvPr id="45" name="Graphic 44" descr="Connections outline">
              <a:extLst>
                <a:ext uri="{FF2B5EF4-FFF2-40B4-BE49-F238E27FC236}">
                  <a16:creationId xmlns:a16="http://schemas.microsoft.com/office/drawing/2014/main" id="{DCF130D5-586F-A7C1-55A7-BEC3075D750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62400" y="2304842"/>
              <a:ext cx="2735663" cy="2735663"/>
            </a:xfrm>
            <a:prstGeom prst="rect">
              <a:avLst/>
            </a:prstGeom>
          </p:spPr>
        </p:pic>
      </p:grpSp>
      <p:grpSp>
        <p:nvGrpSpPr>
          <p:cNvPr id="53" name="Group 52">
            <a:extLst>
              <a:ext uri="{FF2B5EF4-FFF2-40B4-BE49-F238E27FC236}">
                <a16:creationId xmlns:a16="http://schemas.microsoft.com/office/drawing/2014/main" id="{FDBE7FAA-842F-A48E-A1AA-DBCA913CCEF1}"/>
              </a:ext>
            </a:extLst>
          </p:cNvPr>
          <p:cNvGrpSpPr/>
          <p:nvPr/>
        </p:nvGrpSpPr>
        <p:grpSpPr>
          <a:xfrm>
            <a:off x="-3665866" y="-27105"/>
            <a:ext cx="4085617" cy="8416361"/>
            <a:chOff x="-18619" y="0"/>
            <a:chExt cx="4085617" cy="8229600"/>
          </a:xfrm>
        </p:grpSpPr>
        <p:grpSp>
          <p:nvGrpSpPr>
            <p:cNvPr id="25" name="Group 24">
              <a:extLst>
                <a:ext uri="{FF2B5EF4-FFF2-40B4-BE49-F238E27FC236}">
                  <a16:creationId xmlns:a16="http://schemas.microsoft.com/office/drawing/2014/main" id="{A2056629-9051-5A7B-0F4B-E27927719C01}"/>
                </a:ext>
              </a:extLst>
            </p:cNvPr>
            <p:cNvGrpSpPr/>
            <p:nvPr/>
          </p:nvGrpSpPr>
          <p:grpSpPr>
            <a:xfrm>
              <a:off x="-18619" y="0"/>
              <a:ext cx="4085617" cy="8229600"/>
              <a:chOff x="-1" y="0"/>
              <a:chExt cx="4085617" cy="8229600"/>
            </a:xfrm>
          </p:grpSpPr>
          <p:sp>
            <p:nvSpPr>
              <p:cNvPr id="19" name="Rectangle 18">
                <a:extLst>
                  <a:ext uri="{FF2B5EF4-FFF2-40B4-BE49-F238E27FC236}">
                    <a16:creationId xmlns:a16="http://schemas.microsoft.com/office/drawing/2014/main" id="{E2866AFE-8187-C36D-2459-10CBF8BD8108}"/>
                  </a:ext>
                </a:extLst>
              </p:cNvPr>
              <p:cNvSpPr/>
              <p:nvPr/>
            </p:nvSpPr>
            <p:spPr>
              <a:xfrm>
                <a:off x="-1" y="0"/>
                <a:ext cx="3657600" cy="82296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24" name="Isosceles Triangle 23">
                <a:extLst>
                  <a:ext uri="{FF2B5EF4-FFF2-40B4-BE49-F238E27FC236}">
                    <a16:creationId xmlns:a16="http://schemas.microsoft.com/office/drawing/2014/main" id="{92AFC5C8-FDCF-E47F-257B-BF295C386CA7}"/>
                  </a:ext>
                </a:extLst>
              </p:cNvPr>
              <p:cNvSpPr/>
              <p:nvPr/>
            </p:nvSpPr>
            <p:spPr>
              <a:xfrm rot="5400000">
                <a:off x="3492230" y="632301"/>
                <a:ext cx="758756" cy="428017"/>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with solid fill">
              <a:extLst>
                <a:ext uri="{FF2B5EF4-FFF2-40B4-BE49-F238E27FC236}">
                  <a16:creationId xmlns:a16="http://schemas.microsoft.com/office/drawing/2014/main" id="{2E7E4B43-15E5-9FC3-2E8C-91F57FE3335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414" y="2452610"/>
              <a:ext cx="2459584" cy="2459584"/>
            </a:xfrm>
            <a:prstGeom prst="rect">
              <a:avLst/>
            </a:prstGeom>
          </p:spPr>
        </p:pic>
        <p:sp>
          <p:nvSpPr>
            <p:cNvPr id="8" name="TextBox 7">
              <a:extLst>
                <a:ext uri="{FF2B5EF4-FFF2-40B4-BE49-F238E27FC236}">
                  <a16:creationId xmlns:a16="http://schemas.microsoft.com/office/drawing/2014/main" id="{F469FC22-80EC-5A55-1770-1A49EB62015B}"/>
                </a:ext>
              </a:extLst>
            </p:cNvPr>
            <p:cNvSpPr txBox="1"/>
            <p:nvPr/>
          </p:nvSpPr>
          <p:spPr>
            <a:xfrm>
              <a:off x="881176" y="5238765"/>
              <a:ext cx="2036755"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Data</a:t>
              </a:r>
            </a:p>
          </p:txBody>
        </p:sp>
        <p:sp>
          <p:nvSpPr>
            <p:cNvPr id="38" name="TextBox 37">
              <a:extLst>
                <a:ext uri="{FF2B5EF4-FFF2-40B4-BE49-F238E27FC236}">
                  <a16:creationId xmlns:a16="http://schemas.microsoft.com/office/drawing/2014/main" id="{E067ED16-20D0-8F93-AFF7-EE0D3C6E0645}"/>
                </a:ext>
              </a:extLst>
            </p:cNvPr>
            <p:cNvSpPr txBox="1"/>
            <p:nvPr/>
          </p:nvSpPr>
          <p:spPr>
            <a:xfrm>
              <a:off x="1500852"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1</a:t>
              </a:r>
            </a:p>
          </p:txBody>
        </p:sp>
      </p:grpSp>
      <p:sp>
        <p:nvSpPr>
          <p:cNvPr id="3" name="TextBox 2">
            <a:extLst>
              <a:ext uri="{FF2B5EF4-FFF2-40B4-BE49-F238E27FC236}">
                <a16:creationId xmlns:a16="http://schemas.microsoft.com/office/drawing/2014/main" id="{B38459CD-1E90-3D5F-78B0-B16121950C59}"/>
              </a:ext>
            </a:extLst>
          </p:cNvPr>
          <p:cNvSpPr txBox="1"/>
          <p:nvPr/>
        </p:nvSpPr>
        <p:spPr>
          <a:xfrm>
            <a:off x="4717314" y="537973"/>
            <a:ext cx="9260132" cy="4555093"/>
          </a:xfrm>
          <a:prstGeom prst="rect">
            <a:avLst/>
          </a:prstGeom>
          <a:noFill/>
        </p:spPr>
        <p:txBody>
          <a:bodyPr wrap="square" rtlCol="0">
            <a:spAutoFit/>
          </a:bodyPr>
          <a:lstStyle/>
          <a:p>
            <a:pPr algn="ctr"/>
            <a:r>
              <a:rPr lang="en-US" sz="5500" b="1" dirty="0">
                <a:solidFill>
                  <a:schemeClr val="tx2"/>
                </a:solidFill>
                <a:latin typeface="Consolas" panose="020B0609020204030204" pitchFamily="49" charset="0"/>
              </a:rPr>
              <a:t>GCS</a:t>
            </a:r>
            <a:r>
              <a:rPr lang="en-US" sz="5500" b="1" baseline="-25000" dirty="0">
                <a:solidFill>
                  <a:schemeClr val="tx2"/>
                </a:solidFill>
                <a:latin typeface="Consolas" panose="020B0609020204030204" pitchFamily="49" charset="0"/>
              </a:rPr>
              <a:t>Gender Classification System</a:t>
            </a:r>
          </a:p>
          <a:p>
            <a:endParaRPr lang="en-US" sz="5500" b="1" dirty="0">
              <a:solidFill>
                <a:schemeClr val="tx2"/>
              </a:solidFill>
              <a:latin typeface="Consolas" panose="020B0609020204030204" pitchFamily="49" charset="0"/>
            </a:endParaRPr>
          </a:p>
          <a:p>
            <a:pPr marL="2057400" lvl="2" indent="-1143000">
              <a:buFont typeface="Arial" panose="020B0604020202020204" pitchFamily="34" charset="0"/>
              <a:buChar char="•"/>
            </a:pPr>
            <a:r>
              <a:rPr lang="en-US" sz="4500" dirty="0">
                <a:solidFill>
                  <a:schemeClr val="tx2"/>
                </a:solidFill>
                <a:latin typeface="Consolas" panose="020B0609020204030204" pitchFamily="49" charset="0"/>
              </a:rPr>
              <a:t>The AI system is capable of classify the gender given a photo.</a:t>
            </a:r>
          </a:p>
        </p:txBody>
      </p:sp>
    </p:spTree>
    <p:extLst>
      <p:ext uri="{BB962C8B-B14F-4D97-AF65-F5344CB8AC3E}">
        <p14:creationId xmlns:p14="http://schemas.microsoft.com/office/powerpoint/2010/main" val="2618597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9A3710B-07E2-F04D-021B-B9B67DA0CCCA}"/>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BF500CD3-FF1C-BB51-0E01-78420952B95C}"/>
              </a:ext>
            </a:extLst>
          </p:cNvPr>
          <p:cNvGrpSpPr/>
          <p:nvPr/>
        </p:nvGrpSpPr>
        <p:grpSpPr>
          <a:xfrm>
            <a:off x="-2307669" y="-13552"/>
            <a:ext cx="3728635" cy="8445390"/>
            <a:chOff x="10887105" y="0"/>
            <a:chExt cx="3728635" cy="8229600"/>
          </a:xfrm>
        </p:grpSpPr>
        <p:sp>
          <p:nvSpPr>
            <p:cNvPr id="22" name="Rectangle 21">
              <a:extLst>
                <a:ext uri="{FF2B5EF4-FFF2-40B4-BE49-F238E27FC236}">
                  <a16:creationId xmlns:a16="http://schemas.microsoft.com/office/drawing/2014/main" id="{51B9C306-9600-6497-9EB4-00C2954A07ED}"/>
                </a:ext>
              </a:extLst>
            </p:cNvPr>
            <p:cNvSpPr/>
            <p:nvPr/>
          </p:nvSpPr>
          <p:spPr>
            <a:xfrm>
              <a:off x="10887105" y="0"/>
              <a:ext cx="3728635" cy="82296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Gender with solid fill">
              <a:extLst>
                <a:ext uri="{FF2B5EF4-FFF2-40B4-BE49-F238E27FC236}">
                  <a16:creationId xmlns:a16="http://schemas.microsoft.com/office/drawing/2014/main" id="{CB96F52A-5321-C49B-0A4A-93EB5E866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521630" y="2406762"/>
              <a:ext cx="2459584" cy="2459584"/>
            </a:xfrm>
            <a:prstGeom prst="rect">
              <a:avLst/>
            </a:prstGeom>
          </p:spPr>
        </p:pic>
        <p:sp>
          <p:nvSpPr>
            <p:cNvPr id="11" name="TextBox 10">
              <a:extLst>
                <a:ext uri="{FF2B5EF4-FFF2-40B4-BE49-F238E27FC236}">
                  <a16:creationId xmlns:a16="http://schemas.microsoft.com/office/drawing/2014/main" id="{63286520-85E9-D55D-3D8D-FD65FF344F14}"/>
                </a:ext>
              </a:extLst>
            </p:cNvPr>
            <p:cNvSpPr txBox="1"/>
            <p:nvPr/>
          </p:nvSpPr>
          <p:spPr>
            <a:xfrm>
              <a:off x="11459673" y="5345148"/>
              <a:ext cx="2975581"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Output</a:t>
              </a:r>
            </a:p>
          </p:txBody>
        </p:sp>
        <p:sp>
          <p:nvSpPr>
            <p:cNvPr id="41" name="TextBox 40">
              <a:extLst>
                <a:ext uri="{FF2B5EF4-FFF2-40B4-BE49-F238E27FC236}">
                  <a16:creationId xmlns:a16="http://schemas.microsoft.com/office/drawing/2014/main" id="{E5DBA1F3-BFC0-296D-B81A-59442032463E}"/>
                </a:ext>
              </a:extLst>
            </p:cNvPr>
            <p:cNvSpPr txBox="1"/>
            <p:nvPr/>
          </p:nvSpPr>
          <p:spPr>
            <a:xfrm>
              <a:off x="12359887" y="537973"/>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4</a:t>
              </a:r>
            </a:p>
          </p:txBody>
        </p:sp>
      </p:grpSp>
      <p:grpSp>
        <p:nvGrpSpPr>
          <p:cNvPr id="60" name="Group 59">
            <a:extLst>
              <a:ext uri="{FF2B5EF4-FFF2-40B4-BE49-F238E27FC236}">
                <a16:creationId xmlns:a16="http://schemas.microsoft.com/office/drawing/2014/main" id="{79417500-308D-819A-8159-E8261EC659A0}"/>
              </a:ext>
            </a:extLst>
          </p:cNvPr>
          <p:cNvGrpSpPr/>
          <p:nvPr/>
        </p:nvGrpSpPr>
        <p:grpSpPr>
          <a:xfrm>
            <a:off x="-2796712" y="0"/>
            <a:ext cx="4085617" cy="8431838"/>
            <a:chOff x="7266774" y="0"/>
            <a:chExt cx="4085617" cy="8229600"/>
          </a:xfrm>
        </p:grpSpPr>
        <p:grpSp>
          <p:nvGrpSpPr>
            <p:cNvPr id="32" name="Group 31">
              <a:extLst>
                <a:ext uri="{FF2B5EF4-FFF2-40B4-BE49-F238E27FC236}">
                  <a16:creationId xmlns:a16="http://schemas.microsoft.com/office/drawing/2014/main" id="{69DCEE18-F634-5E9E-A7D0-F3B094C200B5}"/>
                </a:ext>
              </a:extLst>
            </p:cNvPr>
            <p:cNvGrpSpPr/>
            <p:nvPr/>
          </p:nvGrpSpPr>
          <p:grpSpPr>
            <a:xfrm>
              <a:off x="7266774" y="0"/>
              <a:ext cx="4085617" cy="8229600"/>
              <a:chOff x="-1" y="0"/>
              <a:chExt cx="4085617" cy="8229600"/>
            </a:xfrm>
            <a:solidFill>
              <a:schemeClr val="tx2">
                <a:lumMod val="75000"/>
                <a:lumOff val="25000"/>
              </a:schemeClr>
            </a:solidFill>
          </p:grpSpPr>
          <p:sp>
            <p:nvSpPr>
              <p:cNvPr id="33" name="Rectangle 32">
                <a:extLst>
                  <a:ext uri="{FF2B5EF4-FFF2-40B4-BE49-F238E27FC236}">
                    <a16:creationId xmlns:a16="http://schemas.microsoft.com/office/drawing/2014/main" id="{F8E7B8E2-0972-91FB-C30D-134165EBAE7D}"/>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40000"/>
                      <a:lumOff val="60000"/>
                    </a:schemeClr>
                  </a:solidFill>
                </a:endParaRPr>
              </a:p>
            </p:txBody>
          </p:sp>
          <p:sp>
            <p:nvSpPr>
              <p:cNvPr id="34" name="Isosceles Triangle 33">
                <a:extLst>
                  <a:ext uri="{FF2B5EF4-FFF2-40B4-BE49-F238E27FC236}">
                    <a16:creationId xmlns:a16="http://schemas.microsoft.com/office/drawing/2014/main" id="{0942DD94-447C-2043-6D8D-FDDD0619148B}"/>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AA23EF5D-D659-30AF-4C86-4F7ABDDDA2D6}"/>
                </a:ext>
              </a:extLst>
            </p:cNvPr>
            <p:cNvSpPr txBox="1"/>
            <p:nvPr/>
          </p:nvSpPr>
          <p:spPr>
            <a:xfrm>
              <a:off x="8809907" y="496161"/>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3</a:t>
              </a:r>
            </a:p>
          </p:txBody>
        </p:sp>
        <p:grpSp>
          <p:nvGrpSpPr>
            <p:cNvPr id="51" name="Group 50">
              <a:extLst>
                <a:ext uri="{FF2B5EF4-FFF2-40B4-BE49-F238E27FC236}">
                  <a16:creationId xmlns:a16="http://schemas.microsoft.com/office/drawing/2014/main" id="{703B6CDC-C3F4-F885-0584-BC3D4EED87A3}"/>
                </a:ext>
              </a:extLst>
            </p:cNvPr>
            <p:cNvGrpSpPr/>
            <p:nvPr/>
          </p:nvGrpSpPr>
          <p:grpSpPr>
            <a:xfrm>
              <a:off x="7769446" y="2314570"/>
              <a:ext cx="2607525" cy="2548401"/>
              <a:chOff x="16488126" y="2796747"/>
              <a:chExt cx="2607525" cy="2548401"/>
            </a:xfrm>
          </p:grpSpPr>
          <p:pic>
            <p:nvPicPr>
              <p:cNvPr id="48" name="Graphic 47" descr="Scatterplot outline">
                <a:extLst>
                  <a:ext uri="{FF2B5EF4-FFF2-40B4-BE49-F238E27FC236}">
                    <a16:creationId xmlns:a16="http://schemas.microsoft.com/office/drawing/2014/main" id="{07AEE2C0-0AE2-EB98-A8AC-CE753998DA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488126" y="2796747"/>
                <a:ext cx="2607525" cy="2548401"/>
              </a:xfrm>
              <a:prstGeom prst="rect">
                <a:avLst/>
              </a:prstGeom>
            </p:spPr>
          </p:pic>
          <p:cxnSp>
            <p:nvCxnSpPr>
              <p:cNvPr id="50" name="Straight Connector 49">
                <a:extLst>
                  <a:ext uri="{FF2B5EF4-FFF2-40B4-BE49-F238E27FC236}">
                    <a16:creationId xmlns:a16="http://schemas.microsoft.com/office/drawing/2014/main" id="{D648577A-F9CF-2F5E-C2F9-23C28D4DAC0C}"/>
                  </a:ext>
                </a:extLst>
              </p:cNvPr>
              <p:cNvCxnSpPr/>
              <p:nvPr/>
            </p:nvCxnSpPr>
            <p:spPr>
              <a:xfrm flipV="1">
                <a:off x="17081770" y="3268494"/>
                <a:ext cx="1420239" cy="1381327"/>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B15470CA-6B6A-75FB-B3FC-EAD5108EA09E}"/>
                </a:ext>
              </a:extLst>
            </p:cNvPr>
            <p:cNvSpPr txBox="1"/>
            <p:nvPr/>
          </p:nvSpPr>
          <p:spPr>
            <a:xfrm>
              <a:off x="8001800" y="5287657"/>
              <a:ext cx="238004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Train</a:t>
              </a:r>
            </a:p>
          </p:txBody>
        </p:sp>
      </p:grpSp>
      <p:grpSp>
        <p:nvGrpSpPr>
          <p:cNvPr id="59" name="Group 58">
            <a:extLst>
              <a:ext uri="{FF2B5EF4-FFF2-40B4-BE49-F238E27FC236}">
                <a16:creationId xmlns:a16="http://schemas.microsoft.com/office/drawing/2014/main" id="{C1CFEF64-E6E7-B1B3-5EB7-8C54C63FC79A}"/>
              </a:ext>
            </a:extLst>
          </p:cNvPr>
          <p:cNvGrpSpPr/>
          <p:nvPr/>
        </p:nvGrpSpPr>
        <p:grpSpPr>
          <a:xfrm>
            <a:off x="-3262441" y="-27104"/>
            <a:ext cx="4085617" cy="8445390"/>
            <a:chOff x="916678" y="52844"/>
            <a:chExt cx="4085617" cy="8229600"/>
          </a:xfrm>
        </p:grpSpPr>
        <p:grpSp>
          <p:nvGrpSpPr>
            <p:cNvPr id="58" name="Group 57">
              <a:extLst>
                <a:ext uri="{FF2B5EF4-FFF2-40B4-BE49-F238E27FC236}">
                  <a16:creationId xmlns:a16="http://schemas.microsoft.com/office/drawing/2014/main" id="{45BCC403-99B1-F42A-71DE-A5A08BA06CB6}"/>
                </a:ext>
              </a:extLst>
            </p:cNvPr>
            <p:cNvGrpSpPr/>
            <p:nvPr/>
          </p:nvGrpSpPr>
          <p:grpSpPr>
            <a:xfrm>
              <a:off x="916678" y="52844"/>
              <a:ext cx="4085617" cy="8229600"/>
              <a:chOff x="3620501" y="0"/>
              <a:chExt cx="4085617" cy="8229600"/>
            </a:xfrm>
          </p:grpSpPr>
          <p:grpSp>
            <p:nvGrpSpPr>
              <p:cNvPr id="29" name="Group 28">
                <a:extLst>
                  <a:ext uri="{FF2B5EF4-FFF2-40B4-BE49-F238E27FC236}">
                    <a16:creationId xmlns:a16="http://schemas.microsoft.com/office/drawing/2014/main" id="{C3290B45-FC2A-FBB9-47DD-7A6B7A78AEE6}"/>
                  </a:ext>
                </a:extLst>
              </p:cNvPr>
              <p:cNvGrpSpPr/>
              <p:nvPr/>
            </p:nvGrpSpPr>
            <p:grpSpPr>
              <a:xfrm>
                <a:off x="3620501" y="0"/>
                <a:ext cx="4085617" cy="8229600"/>
                <a:chOff x="-1" y="0"/>
                <a:chExt cx="4085617" cy="8229600"/>
              </a:xfrm>
              <a:solidFill>
                <a:schemeClr val="tx2">
                  <a:lumMod val="50000"/>
                  <a:lumOff val="50000"/>
                </a:schemeClr>
              </a:solidFill>
            </p:grpSpPr>
            <p:sp>
              <p:nvSpPr>
                <p:cNvPr id="30" name="Rectangle 29">
                  <a:extLst>
                    <a:ext uri="{FF2B5EF4-FFF2-40B4-BE49-F238E27FC236}">
                      <a16:creationId xmlns:a16="http://schemas.microsoft.com/office/drawing/2014/main" id="{CE4AE398-6E36-557A-6C7B-0D12DF6BC003}"/>
                    </a:ext>
                  </a:extLst>
                </p:cNvPr>
                <p:cNvSpPr/>
                <p:nvPr/>
              </p:nvSpPr>
              <p:spPr>
                <a:xfrm>
                  <a:off x="-1" y="0"/>
                  <a:ext cx="3657600" cy="8229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31" name="Isosceles Triangle 30">
                  <a:extLst>
                    <a:ext uri="{FF2B5EF4-FFF2-40B4-BE49-F238E27FC236}">
                      <a16:creationId xmlns:a16="http://schemas.microsoft.com/office/drawing/2014/main" id="{7EC86B32-BCC0-5ADE-DF0B-675E8F77AAEF}"/>
                    </a:ext>
                  </a:extLst>
                </p:cNvPr>
                <p:cNvSpPr/>
                <p:nvPr/>
              </p:nvSpPr>
              <p:spPr>
                <a:xfrm rot="5400000">
                  <a:off x="3492230" y="632301"/>
                  <a:ext cx="758756" cy="4280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D7165118-34AC-347D-28FC-603448BFA0CA}"/>
                  </a:ext>
                </a:extLst>
              </p:cNvPr>
              <p:cNvSpPr txBox="1"/>
              <p:nvPr/>
            </p:nvSpPr>
            <p:spPr>
              <a:xfrm>
                <a:off x="5206246"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2</a:t>
                </a:r>
              </a:p>
            </p:txBody>
          </p:sp>
          <p:sp>
            <p:nvSpPr>
              <p:cNvPr id="46" name="TextBox 45">
                <a:extLst>
                  <a:ext uri="{FF2B5EF4-FFF2-40B4-BE49-F238E27FC236}">
                    <a16:creationId xmlns:a16="http://schemas.microsoft.com/office/drawing/2014/main" id="{F775AB27-3F42-B138-706A-DA23A3733986}"/>
                  </a:ext>
                </a:extLst>
              </p:cNvPr>
              <p:cNvSpPr txBox="1"/>
              <p:nvPr/>
            </p:nvSpPr>
            <p:spPr>
              <a:xfrm>
                <a:off x="5103012" y="5238764"/>
                <a:ext cx="1270477" cy="1015663"/>
              </a:xfrm>
              <a:prstGeom prst="rect">
                <a:avLst/>
              </a:prstGeom>
              <a:noFill/>
              <a:ln>
                <a:noFill/>
              </a:ln>
            </p:spPr>
            <p:txBody>
              <a:bodyPr wrap="square" rtlCol="0">
                <a:spAutoFit/>
              </a:bodyPr>
              <a:lstStyle/>
              <a:p>
                <a:r>
                  <a:rPr lang="en-US" sz="6000" b="1" dirty="0">
                    <a:solidFill>
                      <a:schemeClr val="bg1"/>
                    </a:solidFill>
                    <a:latin typeface="Consolas" panose="020B0609020204030204" pitchFamily="49" charset="0"/>
                  </a:rPr>
                  <a:t>ML</a:t>
                </a:r>
              </a:p>
            </p:txBody>
          </p:sp>
        </p:grpSp>
        <p:pic>
          <p:nvPicPr>
            <p:cNvPr id="45" name="Graphic 44" descr="Connections outline">
              <a:extLst>
                <a:ext uri="{FF2B5EF4-FFF2-40B4-BE49-F238E27FC236}">
                  <a16:creationId xmlns:a16="http://schemas.microsoft.com/office/drawing/2014/main" id="{078C7286-3B7C-3613-D16D-261D611B12B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62400" y="2304842"/>
              <a:ext cx="2735663" cy="2735663"/>
            </a:xfrm>
            <a:prstGeom prst="rect">
              <a:avLst/>
            </a:prstGeom>
          </p:spPr>
        </p:pic>
      </p:grpSp>
      <p:grpSp>
        <p:nvGrpSpPr>
          <p:cNvPr id="53" name="Group 52">
            <a:extLst>
              <a:ext uri="{FF2B5EF4-FFF2-40B4-BE49-F238E27FC236}">
                <a16:creationId xmlns:a16="http://schemas.microsoft.com/office/drawing/2014/main" id="{E43466E0-677B-0D38-EC5E-A6B661B4A240}"/>
              </a:ext>
            </a:extLst>
          </p:cNvPr>
          <p:cNvGrpSpPr/>
          <p:nvPr/>
        </p:nvGrpSpPr>
        <p:grpSpPr>
          <a:xfrm>
            <a:off x="-3665866" y="-27104"/>
            <a:ext cx="4085617" cy="8445390"/>
            <a:chOff x="-18619" y="0"/>
            <a:chExt cx="4085617" cy="8229600"/>
          </a:xfrm>
        </p:grpSpPr>
        <p:grpSp>
          <p:nvGrpSpPr>
            <p:cNvPr id="25" name="Group 24">
              <a:extLst>
                <a:ext uri="{FF2B5EF4-FFF2-40B4-BE49-F238E27FC236}">
                  <a16:creationId xmlns:a16="http://schemas.microsoft.com/office/drawing/2014/main" id="{8CE3B5B5-6E51-FE22-6A5F-8E6C7A5BB492}"/>
                </a:ext>
              </a:extLst>
            </p:cNvPr>
            <p:cNvGrpSpPr/>
            <p:nvPr/>
          </p:nvGrpSpPr>
          <p:grpSpPr>
            <a:xfrm>
              <a:off x="-18619" y="0"/>
              <a:ext cx="4085617" cy="8229600"/>
              <a:chOff x="-1" y="0"/>
              <a:chExt cx="4085617" cy="8229600"/>
            </a:xfrm>
          </p:grpSpPr>
          <p:sp>
            <p:nvSpPr>
              <p:cNvPr id="19" name="Rectangle 18">
                <a:extLst>
                  <a:ext uri="{FF2B5EF4-FFF2-40B4-BE49-F238E27FC236}">
                    <a16:creationId xmlns:a16="http://schemas.microsoft.com/office/drawing/2014/main" id="{B8CDE731-8973-D16E-AC68-3F301F14D227}"/>
                  </a:ext>
                </a:extLst>
              </p:cNvPr>
              <p:cNvSpPr/>
              <p:nvPr/>
            </p:nvSpPr>
            <p:spPr>
              <a:xfrm>
                <a:off x="-1" y="0"/>
                <a:ext cx="3657600" cy="8229600"/>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40000"/>
                      <a:lumOff val="60000"/>
                    </a:schemeClr>
                  </a:solidFill>
                </a:endParaRPr>
              </a:p>
            </p:txBody>
          </p:sp>
          <p:sp>
            <p:nvSpPr>
              <p:cNvPr id="24" name="Isosceles Triangle 23">
                <a:extLst>
                  <a:ext uri="{FF2B5EF4-FFF2-40B4-BE49-F238E27FC236}">
                    <a16:creationId xmlns:a16="http://schemas.microsoft.com/office/drawing/2014/main" id="{BB69473E-3F10-0308-11B1-992ACD5127F2}"/>
                  </a:ext>
                </a:extLst>
              </p:cNvPr>
              <p:cNvSpPr/>
              <p:nvPr/>
            </p:nvSpPr>
            <p:spPr>
              <a:xfrm rot="5400000">
                <a:off x="3492230" y="632301"/>
                <a:ext cx="758756" cy="428017"/>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with solid fill">
              <a:extLst>
                <a:ext uri="{FF2B5EF4-FFF2-40B4-BE49-F238E27FC236}">
                  <a16:creationId xmlns:a16="http://schemas.microsoft.com/office/drawing/2014/main" id="{92D5BC95-CAC7-A4C0-0725-1149BD0D90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414" y="2452610"/>
              <a:ext cx="2459584" cy="2459584"/>
            </a:xfrm>
            <a:prstGeom prst="rect">
              <a:avLst/>
            </a:prstGeom>
          </p:spPr>
        </p:pic>
        <p:sp>
          <p:nvSpPr>
            <p:cNvPr id="8" name="TextBox 7">
              <a:extLst>
                <a:ext uri="{FF2B5EF4-FFF2-40B4-BE49-F238E27FC236}">
                  <a16:creationId xmlns:a16="http://schemas.microsoft.com/office/drawing/2014/main" id="{DD1952DE-B6E9-0435-2C4D-603CEC113642}"/>
                </a:ext>
              </a:extLst>
            </p:cNvPr>
            <p:cNvSpPr txBox="1"/>
            <p:nvPr/>
          </p:nvSpPr>
          <p:spPr>
            <a:xfrm>
              <a:off x="881176" y="5238765"/>
              <a:ext cx="2036755"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Data</a:t>
              </a:r>
            </a:p>
          </p:txBody>
        </p:sp>
        <p:sp>
          <p:nvSpPr>
            <p:cNvPr id="38" name="TextBox 37">
              <a:extLst>
                <a:ext uri="{FF2B5EF4-FFF2-40B4-BE49-F238E27FC236}">
                  <a16:creationId xmlns:a16="http://schemas.microsoft.com/office/drawing/2014/main" id="{5549BD66-C2F8-9A8E-4A47-7CAB985DB552}"/>
                </a:ext>
              </a:extLst>
            </p:cNvPr>
            <p:cNvSpPr txBox="1"/>
            <p:nvPr/>
          </p:nvSpPr>
          <p:spPr>
            <a:xfrm>
              <a:off x="1500852" y="496162"/>
              <a:ext cx="655618" cy="1015663"/>
            </a:xfrm>
            <a:prstGeom prst="rect">
              <a:avLst/>
            </a:prstGeom>
            <a:noFill/>
          </p:spPr>
          <p:txBody>
            <a:bodyPr wrap="square" rtlCol="0">
              <a:spAutoFit/>
            </a:bodyPr>
            <a:lstStyle/>
            <a:p>
              <a:r>
                <a:rPr lang="en-US" sz="6000" b="1" dirty="0">
                  <a:solidFill>
                    <a:schemeClr val="bg1"/>
                  </a:solidFill>
                  <a:latin typeface="Consolas" panose="020B0609020204030204" pitchFamily="49" charset="0"/>
                </a:rPr>
                <a:t>1</a:t>
              </a:r>
            </a:p>
          </p:txBody>
        </p:sp>
      </p:grpSp>
      <p:sp>
        <p:nvSpPr>
          <p:cNvPr id="3" name="TextBox 2">
            <a:extLst>
              <a:ext uri="{FF2B5EF4-FFF2-40B4-BE49-F238E27FC236}">
                <a16:creationId xmlns:a16="http://schemas.microsoft.com/office/drawing/2014/main" id="{FBEA2772-EC78-BFC8-151A-4F35D9C25E63}"/>
              </a:ext>
            </a:extLst>
          </p:cNvPr>
          <p:cNvSpPr txBox="1"/>
          <p:nvPr/>
        </p:nvSpPr>
        <p:spPr>
          <a:xfrm>
            <a:off x="3588905" y="1862528"/>
            <a:ext cx="9260132" cy="1077218"/>
          </a:xfrm>
          <a:prstGeom prst="rect">
            <a:avLst/>
          </a:prstGeom>
          <a:noFill/>
        </p:spPr>
        <p:txBody>
          <a:bodyPr wrap="square" rtlCol="0">
            <a:spAutoFit/>
          </a:bodyPr>
          <a:lstStyle/>
          <a:p>
            <a:pPr algn="ctr"/>
            <a:r>
              <a:rPr lang="en-US" sz="9600" baseline="-25000" dirty="0">
                <a:solidFill>
                  <a:schemeClr val="tx2"/>
                </a:solidFill>
                <a:latin typeface="Consolas" panose="020B0609020204030204" pitchFamily="49" charset="0"/>
              </a:rPr>
              <a:t>LET’S TAKE A LOOK!</a:t>
            </a:r>
          </a:p>
        </p:txBody>
      </p:sp>
      <p:sp>
        <p:nvSpPr>
          <p:cNvPr id="4" name="Action Button: Document 3">
            <a:hlinkClick r:id="rId10"/>
            <a:extLst>
              <a:ext uri="{FF2B5EF4-FFF2-40B4-BE49-F238E27FC236}">
                <a16:creationId xmlns:a16="http://schemas.microsoft.com/office/drawing/2014/main" id="{DAC72149-DB57-C5BA-24F3-52CFC66BD612}"/>
              </a:ext>
            </a:extLst>
          </p:cNvPr>
          <p:cNvSpPr/>
          <p:nvPr/>
        </p:nvSpPr>
        <p:spPr>
          <a:xfrm>
            <a:off x="7315200" y="4023898"/>
            <a:ext cx="1042416" cy="1042416"/>
          </a:xfrm>
          <a:prstGeom prst="actionButton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93146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DD61A-A963-C45D-F611-B224AA8C69A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74EB434-9CC4-CE42-3240-2F5029A7AFBB}"/>
              </a:ext>
            </a:extLst>
          </p:cNvPr>
          <p:cNvSpPr txBox="1"/>
          <p:nvPr/>
        </p:nvSpPr>
        <p:spPr>
          <a:xfrm>
            <a:off x="1777965" y="2878624"/>
            <a:ext cx="11074469" cy="3785652"/>
          </a:xfrm>
          <a:prstGeom prst="rect">
            <a:avLst/>
          </a:prstGeom>
          <a:noFill/>
        </p:spPr>
        <p:txBody>
          <a:bodyPr wrap="square">
            <a:spAutoFit/>
          </a:bodyPr>
          <a:lstStyle/>
          <a:p>
            <a:r>
              <a:rPr lang="en-US" sz="8000" dirty="0">
                <a:solidFill>
                  <a:schemeClr val="tx2"/>
                </a:solidFill>
                <a:latin typeface="Consolas" panose="020B0609020204030204" pitchFamily="49" charset="0"/>
              </a:rPr>
              <a:t>Let’s do an exercise!</a:t>
            </a:r>
          </a:p>
          <a:p>
            <a:endParaRPr lang="en-US" sz="8000" dirty="0">
              <a:solidFill>
                <a:schemeClr val="tx2"/>
              </a:solidFill>
              <a:latin typeface="Consolas" panose="020B0609020204030204" pitchFamily="49" charset="0"/>
            </a:endParaRPr>
          </a:p>
        </p:txBody>
      </p:sp>
    </p:spTree>
    <p:extLst>
      <p:ext uri="{BB962C8B-B14F-4D97-AF65-F5344CB8AC3E}">
        <p14:creationId xmlns:p14="http://schemas.microsoft.com/office/powerpoint/2010/main" val="2016065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B08A-CC9F-0540-F2E0-6EAEF1D2C9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98A5A2-AEDB-EE9B-AF70-8A9AD5DC8572}"/>
              </a:ext>
            </a:extLst>
          </p:cNvPr>
          <p:cNvSpPr txBox="1"/>
          <p:nvPr/>
        </p:nvSpPr>
        <p:spPr>
          <a:xfrm>
            <a:off x="1030903" y="850586"/>
            <a:ext cx="6699957" cy="5755422"/>
          </a:xfrm>
          <a:prstGeom prst="rect">
            <a:avLst/>
          </a:prstGeom>
          <a:noFill/>
        </p:spPr>
        <p:txBody>
          <a:bodyPr wrap="square">
            <a:spAutoFit/>
          </a:bodyPr>
          <a:lstStyle/>
          <a:p>
            <a:r>
              <a:rPr lang="en-US" sz="8000" b="1" dirty="0">
                <a:solidFill>
                  <a:schemeClr val="tx2"/>
                </a:solidFill>
                <a:latin typeface="Consolas" panose="020B0609020204030204" pitchFamily="49" charset="0"/>
              </a:rPr>
              <a:t>Exercise</a:t>
            </a:r>
          </a:p>
          <a:p>
            <a:pPr marL="571500" indent="-571500">
              <a:buFont typeface="Arial" panose="020B0604020202020204" pitchFamily="34" charset="0"/>
              <a:buChar char="•"/>
            </a:pPr>
            <a:r>
              <a:rPr lang="en-US" sz="3600" dirty="0">
                <a:solidFill>
                  <a:schemeClr val="tx2"/>
                </a:solidFill>
                <a:latin typeface="Consolas" panose="020B0609020204030204" pitchFamily="49" charset="0"/>
              </a:rPr>
              <a:t>Make groups of 5-6</a:t>
            </a:r>
          </a:p>
          <a:p>
            <a:pPr marL="571500" indent="-571500">
              <a:buFont typeface="Arial" panose="020B0604020202020204" pitchFamily="34" charset="0"/>
              <a:buChar char="•"/>
            </a:pPr>
            <a:r>
              <a:rPr lang="en-US" sz="3600" dirty="0">
                <a:solidFill>
                  <a:schemeClr val="tx2"/>
                </a:solidFill>
                <a:latin typeface="Consolas" panose="020B0609020204030204" pitchFamily="49" charset="0"/>
              </a:rPr>
              <a:t>Check the data used to train the algorithm</a:t>
            </a:r>
          </a:p>
          <a:p>
            <a:pPr marL="571500" indent="-571500">
              <a:buFont typeface="Arial" panose="020B0604020202020204" pitchFamily="34" charset="0"/>
              <a:buChar char="•"/>
            </a:pPr>
            <a:r>
              <a:rPr lang="en-US" sz="3600" dirty="0">
                <a:solidFill>
                  <a:schemeClr val="tx2"/>
                </a:solidFill>
                <a:latin typeface="Consolas" panose="020B0609020204030204" pitchFamily="49" charset="0"/>
              </a:rPr>
              <a:t>Anticipate the predicted gender and accuracy of the algorithm</a:t>
            </a:r>
          </a:p>
          <a:p>
            <a:pPr marL="571500" indent="-571500">
              <a:buFont typeface="Arial" panose="020B0604020202020204" pitchFamily="34" charset="0"/>
              <a:buChar char="•"/>
            </a:pPr>
            <a:r>
              <a:rPr lang="en-US" sz="3600" dirty="0">
                <a:solidFill>
                  <a:schemeClr val="tx2"/>
                </a:solidFill>
                <a:latin typeface="Consolas" panose="020B0609020204030204" pitchFamily="49" charset="0"/>
              </a:rPr>
              <a:t>Discuss the questions</a:t>
            </a:r>
          </a:p>
        </p:txBody>
      </p:sp>
      <p:pic>
        <p:nvPicPr>
          <p:cNvPr id="3" name="Picture 2" descr="A graph of a person smiling&#10;&#10;AI-generated content may be incorrect.">
            <a:extLst>
              <a:ext uri="{FF2B5EF4-FFF2-40B4-BE49-F238E27FC236}">
                <a16:creationId xmlns:a16="http://schemas.microsoft.com/office/drawing/2014/main" id="{55F25377-AD95-D484-2454-A51BE27B2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0951" y="759212"/>
            <a:ext cx="5584520" cy="6411176"/>
          </a:xfrm>
          <a:prstGeom prst="rect">
            <a:avLst/>
          </a:prstGeom>
        </p:spPr>
      </p:pic>
    </p:spTree>
    <p:extLst>
      <p:ext uri="{BB962C8B-B14F-4D97-AF65-F5344CB8AC3E}">
        <p14:creationId xmlns:p14="http://schemas.microsoft.com/office/powerpoint/2010/main" val="2457760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87170216-5027-A5B7-19AA-BF7D5EF81939}"/>
            </a:ext>
          </a:extLst>
        </p:cNvPr>
        <p:cNvGrpSpPr/>
        <p:nvPr/>
      </p:nvGrpSpPr>
      <p:grpSpPr>
        <a:xfrm>
          <a:off x="0" y="0"/>
          <a:ext cx="0" cy="0"/>
          <a:chOff x="0" y="0"/>
          <a:chExt cx="0" cy="0"/>
        </a:xfrm>
      </p:grpSpPr>
      <p:pic>
        <p:nvPicPr>
          <p:cNvPr id="6" name="Picture 5" descr="A person with a beard and red lipstick&#10;&#10;AI-generated content may be incorrect.">
            <a:extLst>
              <a:ext uri="{FF2B5EF4-FFF2-40B4-BE49-F238E27FC236}">
                <a16:creationId xmlns:a16="http://schemas.microsoft.com/office/drawing/2014/main" id="{EC768F80-CA36-9985-4D5A-DCC5D9023B1E}"/>
              </a:ext>
            </a:extLst>
          </p:cNvPr>
          <p:cNvPicPr>
            <a:picLocks noChangeAspect="1"/>
          </p:cNvPicPr>
          <p:nvPr/>
        </p:nvPicPr>
        <p:blipFill>
          <a:blip r:embed="rId2">
            <a:extLst>
              <a:ext uri="{28A0092B-C50C-407E-A947-70E740481C1C}">
                <a14:useLocalDpi xmlns:a14="http://schemas.microsoft.com/office/drawing/2010/main" val="0"/>
              </a:ext>
            </a:extLst>
          </a:blip>
          <a:srcRect l="15845" r="15644"/>
          <a:stretch/>
        </p:blipFill>
        <p:spPr>
          <a:xfrm>
            <a:off x="647131" y="3396444"/>
            <a:ext cx="3503761" cy="3964112"/>
          </a:xfrm>
          <a:prstGeom prst="rect">
            <a:avLst/>
          </a:prstGeom>
        </p:spPr>
      </p:pic>
      <p:pic>
        <p:nvPicPr>
          <p:cNvPr id="10" name="Picture 9" descr="A person with a beard and turban&#10;&#10;AI-generated content may be incorrect.">
            <a:extLst>
              <a:ext uri="{FF2B5EF4-FFF2-40B4-BE49-F238E27FC236}">
                <a16:creationId xmlns:a16="http://schemas.microsoft.com/office/drawing/2014/main" id="{81D40B33-F4E1-C27C-5129-5A716C0C5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2945" y="3396444"/>
            <a:ext cx="3010838" cy="3964112"/>
          </a:xfrm>
          <a:prstGeom prst="rect">
            <a:avLst/>
          </a:prstGeom>
        </p:spPr>
      </p:pic>
      <p:pic>
        <p:nvPicPr>
          <p:cNvPr id="13" name="Picture 12" descr="A person smiling at the camera&#10;&#10;AI-generated content may be incorrect.">
            <a:extLst>
              <a:ext uri="{FF2B5EF4-FFF2-40B4-BE49-F238E27FC236}">
                <a16:creationId xmlns:a16="http://schemas.microsoft.com/office/drawing/2014/main" id="{CEAFFC86-1D6B-B9D5-BB70-A61E2C4275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3161" y="3396444"/>
            <a:ext cx="3296333" cy="4022644"/>
          </a:xfrm>
          <a:prstGeom prst="rect">
            <a:avLst/>
          </a:prstGeom>
        </p:spPr>
      </p:pic>
      <p:pic>
        <p:nvPicPr>
          <p:cNvPr id="15" name="Picture 14" descr="A person with pink hair and a beard&#10;&#10;AI-generated content may be incorrect.">
            <a:extLst>
              <a:ext uri="{FF2B5EF4-FFF2-40B4-BE49-F238E27FC236}">
                <a16:creationId xmlns:a16="http://schemas.microsoft.com/office/drawing/2014/main" id="{9489387C-27F2-6294-D5F9-4980F0B5A9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79444" y="3402603"/>
            <a:ext cx="3189775" cy="3987219"/>
          </a:xfrm>
          <a:prstGeom prst="rect">
            <a:avLst/>
          </a:prstGeom>
        </p:spPr>
      </p:pic>
      <p:sp>
        <p:nvSpPr>
          <p:cNvPr id="16" name="TextBox 15">
            <a:extLst>
              <a:ext uri="{FF2B5EF4-FFF2-40B4-BE49-F238E27FC236}">
                <a16:creationId xmlns:a16="http://schemas.microsoft.com/office/drawing/2014/main" id="{E8ADAFAE-C4BB-64A0-D548-F2AB9BF9994F}"/>
              </a:ext>
            </a:extLst>
          </p:cNvPr>
          <p:cNvSpPr txBox="1"/>
          <p:nvPr/>
        </p:nvSpPr>
        <p:spPr>
          <a:xfrm>
            <a:off x="2053758" y="2073005"/>
            <a:ext cx="763245" cy="1323439"/>
          </a:xfrm>
          <a:prstGeom prst="rect">
            <a:avLst/>
          </a:prstGeom>
          <a:noFill/>
        </p:spPr>
        <p:txBody>
          <a:bodyPr wrap="square" rtlCol="0">
            <a:spAutoFit/>
          </a:bodyPr>
          <a:lstStyle/>
          <a:p>
            <a:r>
              <a:rPr lang="en-US" sz="8000" dirty="0">
                <a:solidFill>
                  <a:schemeClr val="tx2"/>
                </a:solidFill>
                <a:latin typeface="Consolas" panose="020B0609020204030204" pitchFamily="49" charset="0"/>
              </a:rPr>
              <a:t>1</a:t>
            </a:r>
          </a:p>
        </p:txBody>
      </p:sp>
      <p:sp>
        <p:nvSpPr>
          <p:cNvPr id="17" name="TextBox 16">
            <a:extLst>
              <a:ext uri="{FF2B5EF4-FFF2-40B4-BE49-F238E27FC236}">
                <a16:creationId xmlns:a16="http://schemas.microsoft.com/office/drawing/2014/main" id="{3315E3A6-42A5-EB85-30F0-D16CA2DB9D66}"/>
              </a:ext>
            </a:extLst>
          </p:cNvPr>
          <p:cNvSpPr txBox="1"/>
          <p:nvPr/>
        </p:nvSpPr>
        <p:spPr>
          <a:xfrm>
            <a:off x="5403912" y="2073005"/>
            <a:ext cx="763245" cy="1323439"/>
          </a:xfrm>
          <a:prstGeom prst="rect">
            <a:avLst/>
          </a:prstGeom>
          <a:noFill/>
        </p:spPr>
        <p:txBody>
          <a:bodyPr wrap="square" rtlCol="0">
            <a:spAutoFit/>
          </a:bodyPr>
          <a:lstStyle/>
          <a:p>
            <a:r>
              <a:rPr lang="en-US" sz="8000" dirty="0">
                <a:solidFill>
                  <a:schemeClr val="tx2"/>
                </a:solidFill>
                <a:latin typeface="Consolas" panose="020B0609020204030204" pitchFamily="49" charset="0"/>
              </a:rPr>
              <a:t>2</a:t>
            </a:r>
          </a:p>
        </p:txBody>
      </p:sp>
      <p:sp>
        <p:nvSpPr>
          <p:cNvPr id="18" name="TextBox 17">
            <a:extLst>
              <a:ext uri="{FF2B5EF4-FFF2-40B4-BE49-F238E27FC236}">
                <a16:creationId xmlns:a16="http://schemas.microsoft.com/office/drawing/2014/main" id="{8EDA0E19-6DD5-ABC2-163F-CF05FD8B710D}"/>
              </a:ext>
            </a:extLst>
          </p:cNvPr>
          <p:cNvSpPr txBox="1"/>
          <p:nvPr/>
        </p:nvSpPr>
        <p:spPr>
          <a:xfrm>
            <a:off x="8848311" y="2133903"/>
            <a:ext cx="763245" cy="1323439"/>
          </a:xfrm>
          <a:prstGeom prst="rect">
            <a:avLst/>
          </a:prstGeom>
          <a:noFill/>
        </p:spPr>
        <p:txBody>
          <a:bodyPr wrap="square" rtlCol="0">
            <a:spAutoFit/>
          </a:bodyPr>
          <a:lstStyle/>
          <a:p>
            <a:r>
              <a:rPr lang="en-US" sz="8000" dirty="0">
                <a:solidFill>
                  <a:schemeClr val="tx2"/>
                </a:solidFill>
                <a:latin typeface="Consolas" panose="020B0609020204030204" pitchFamily="49" charset="0"/>
              </a:rPr>
              <a:t>3</a:t>
            </a:r>
          </a:p>
        </p:txBody>
      </p:sp>
      <p:sp>
        <p:nvSpPr>
          <p:cNvPr id="20" name="TextBox 19">
            <a:extLst>
              <a:ext uri="{FF2B5EF4-FFF2-40B4-BE49-F238E27FC236}">
                <a16:creationId xmlns:a16="http://schemas.microsoft.com/office/drawing/2014/main" id="{8748EECC-A556-E5E4-02EC-1EDD8C35C9B6}"/>
              </a:ext>
            </a:extLst>
          </p:cNvPr>
          <p:cNvSpPr txBox="1"/>
          <p:nvPr/>
        </p:nvSpPr>
        <p:spPr>
          <a:xfrm>
            <a:off x="12292710" y="2133903"/>
            <a:ext cx="763245" cy="1323439"/>
          </a:xfrm>
          <a:prstGeom prst="rect">
            <a:avLst/>
          </a:prstGeom>
          <a:noFill/>
        </p:spPr>
        <p:txBody>
          <a:bodyPr wrap="square" rtlCol="0">
            <a:spAutoFit/>
          </a:bodyPr>
          <a:lstStyle/>
          <a:p>
            <a:r>
              <a:rPr lang="en-US" sz="8000" dirty="0">
                <a:solidFill>
                  <a:schemeClr val="tx2"/>
                </a:solidFill>
                <a:latin typeface="Consolas" panose="020B0609020204030204" pitchFamily="49" charset="0"/>
              </a:rPr>
              <a:t>4</a:t>
            </a:r>
          </a:p>
        </p:txBody>
      </p:sp>
      <p:sp>
        <p:nvSpPr>
          <p:cNvPr id="21" name="TextBox 20">
            <a:extLst>
              <a:ext uri="{FF2B5EF4-FFF2-40B4-BE49-F238E27FC236}">
                <a16:creationId xmlns:a16="http://schemas.microsoft.com/office/drawing/2014/main" id="{D60931AF-F845-90A2-3520-3D0EB3728672}"/>
              </a:ext>
            </a:extLst>
          </p:cNvPr>
          <p:cNvSpPr txBox="1"/>
          <p:nvPr/>
        </p:nvSpPr>
        <p:spPr>
          <a:xfrm>
            <a:off x="294838" y="245692"/>
            <a:ext cx="13061461" cy="1477328"/>
          </a:xfrm>
          <a:prstGeom prst="rect">
            <a:avLst/>
          </a:prstGeom>
          <a:noFill/>
        </p:spPr>
        <p:txBody>
          <a:bodyPr wrap="none" rtlCol="0">
            <a:spAutoFit/>
          </a:bodyPr>
          <a:lstStyle/>
          <a:p>
            <a:r>
              <a:rPr lang="en-US" sz="4500" b="1" dirty="0">
                <a:solidFill>
                  <a:schemeClr val="tx2"/>
                </a:solidFill>
              </a:rPr>
              <a:t>Do you think it is possible to predict the outcome </a:t>
            </a:r>
          </a:p>
          <a:p>
            <a:r>
              <a:rPr lang="en-US" sz="4500" b="1" dirty="0">
                <a:solidFill>
                  <a:schemeClr val="tx2"/>
                </a:solidFill>
              </a:rPr>
              <a:t>of the AI system for the following images?</a:t>
            </a:r>
          </a:p>
        </p:txBody>
      </p:sp>
    </p:spTree>
    <p:extLst>
      <p:ext uri="{BB962C8B-B14F-4D97-AF65-F5344CB8AC3E}">
        <p14:creationId xmlns:p14="http://schemas.microsoft.com/office/powerpoint/2010/main" val="394726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E636F-6CE2-D695-44C0-6A0A7BF0821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4F44EA-3FFB-C1EA-1B74-BECF424A5561}"/>
              </a:ext>
            </a:extLst>
          </p:cNvPr>
          <p:cNvSpPr txBox="1"/>
          <p:nvPr/>
        </p:nvSpPr>
        <p:spPr>
          <a:xfrm>
            <a:off x="745750" y="621536"/>
            <a:ext cx="12616289" cy="6678751"/>
          </a:xfrm>
          <a:prstGeom prst="rect">
            <a:avLst/>
          </a:prstGeom>
          <a:noFill/>
        </p:spPr>
        <p:txBody>
          <a:bodyPr wrap="square">
            <a:spAutoFit/>
          </a:bodyPr>
          <a:lstStyle/>
          <a:p>
            <a:r>
              <a:rPr lang="en-US" sz="6000" b="1" dirty="0">
                <a:solidFill>
                  <a:schemeClr val="tx2"/>
                </a:solidFill>
                <a:latin typeface="Consolas" panose="020B0609020204030204" pitchFamily="49" charset="0"/>
              </a:rPr>
              <a:t>Why is this important?</a:t>
            </a:r>
          </a:p>
          <a:p>
            <a:pPr marL="571500" indent="-571500">
              <a:buFont typeface="Arial" panose="020B0604020202020204" pitchFamily="34" charset="0"/>
              <a:buChar char="•"/>
            </a:pPr>
            <a:r>
              <a:rPr lang="en-US" sz="3600" dirty="0">
                <a:solidFill>
                  <a:schemeClr val="tx2"/>
                </a:solidFill>
                <a:latin typeface="Consolas" panose="020B0609020204030204" pitchFamily="49" charset="0"/>
              </a:rPr>
              <a:t>Transparency High-Risk AI (Annex IV – Tech Docu.)</a:t>
            </a:r>
          </a:p>
          <a:p>
            <a:pPr lvl="1" algn="just"/>
            <a:endParaRPr lang="en-US" sz="3600" dirty="0">
              <a:solidFill>
                <a:schemeClr val="tx2"/>
              </a:solidFill>
              <a:latin typeface="Consolas" panose="020B0609020204030204" pitchFamily="49" charset="0"/>
            </a:endParaRPr>
          </a:p>
          <a:p>
            <a:pPr lvl="3" algn="just"/>
            <a:r>
              <a:rPr lang="en-US" sz="2800" dirty="0">
                <a:solidFill>
                  <a:schemeClr val="tx2"/>
                </a:solidFill>
                <a:latin typeface="Consolas" panose="020B0609020204030204" pitchFamily="49" charset="0"/>
              </a:rPr>
              <a:t>where relevant, the data requirements in terms of datasheets describing the training methodologies and techniques and the training data sets used, including a general description of these data sets, information about their provenance, scope and main characteristics; how the data was obtained and selected; labelling procedures (e.g. for supervised learning), data cleaning methodologies (e.g. outliers detection);</a:t>
            </a:r>
          </a:p>
          <a:p>
            <a:pPr marL="571500" indent="-571500">
              <a:buFont typeface="Arial" panose="020B0604020202020204" pitchFamily="34" charset="0"/>
              <a:buChar char="•"/>
            </a:pPr>
            <a:endParaRPr lang="en-US" sz="3600" b="1" dirty="0">
              <a:solidFill>
                <a:schemeClr val="tx2"/>
              </a:solidFill>
              <a:latin typeface="Consolas" panose="020B0609020204030204" pitchFamily="49" charset="0"/>
            </a:endParaRPr>
          </a:p>
        </p:txBody>
      </p:sp>
    </p:spTree>
    <p:extLst>
      <p:ext uri="{BB962C8B-B14F-4D97-AF65-F5344CB8AC3E}">
        <p14:creationId xmlns:p14="http://schemas.microsoft.com/office/powerpoint/2010/main" val="3546596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D1E0C-319C-0DEF-3718-78ECFAE99C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63A2244-D16E-B148-1E46-DB88DEFAC40E}"/>
              </a:ext>
            </a:extLst>
          </p:cNvPr>
          <p:cNvSpPr txBox="1"/>
          <p:nvPr/>
        </p:nvSpPr>
        <p:spPr>
          <a:xfrm>
            <a:off x="1007055" y="415854"/>
            <a:ext cx="12616289" cy="6924973"/>
          </a:xfrm>
          <a:prstGeom prst="rect">
            <a:avLst/>
          </a:prstGeom>
          <a:noFill/>
        </p:spPr>
        <p:txBody>
          <a:bodyPr wrap="square">
            <a:spAutoFit/>
          </a:bodyPr>
          <a:lstStyle/>
          <a:p>
            <a:r>
              <a:rPr lang="en-US" sz="6000" b="1" dirty="0">
                <a:solidFill>
                  <a:schemeClr val="tx2"/>
                </a:solidFill>
                <a:latin typeface="Consolas" panose="020B0609020204030204" pitchFamily="49" charset="0"/>
              </a:rPr>
              <a:t>Why is this important?</a:t>
            </a:r>
          </a:p>
          <a:p>
            <a:pPr marL="571500" indent="-571500">
              <a:buFont typeface="Arial" panose="020B0604020202020204" pitchFamily="34" charset="0"/>
              <a:buChar char="•"/>
            </a:pPr>
            <a:r>
              <a:rPr lang="en-US" sz="3600" dirty="0">
                <a:solidFill>
                  <a:schemeClr val="tx2"/>
                </a:solidFill>
                <a:latin typeface="Consolas" panose="020B0609020204030204" pitchFamily="49" charset="0"/>
              </a:rPr>
              <a:t>Biases (Recital 67)</a:t>
            </a:r>
          </a:p>
          <a:p>
            <a:pPr lvl="1" algn="just"/>
            <a:endParaRPr lang="en-US" sz="3600" dirty="0">
              <a:solidFill>
                <a:schemeClr val="tx2"/>
              </a:solidFill>
              <a:latin typeface="Consolas" panose="020B0609020204030204" pitchFamily="49" charset="0"/>
            </a:endParaRPr>
          </a:p>
          <a:p>
            <a:pPr lvl="3" algn="just"/>
            <a:r>
              <a:rPr lang="en-US" sz="2400" dirty="0">
                <a:solidFill>
                  <a:schemeClr val="tx2"/>
                </a:solidFill>
                <a:latin typeface="Consolas" panose="020B0609020204030204" pitchFamily="49" charset="0"/>
              </a:rPr>
              <a:t>The data sets should also have the appropriate statistical properties, including as regards the persons or groups of persons in relation to whom the high-risk AI system is intended to be used, with specific attention to the mitigation of possible biases in the data sets, that are likely to affect the health and safety of persons, have a negative impact on fundamental rights or lead to discrimination prohibited under Union law, especially where data outputs influence inputs for future operations (feedback loops).</a:t>
            </a:r>
          </a:p>
          <a:p>
            <a:pPr lvl="3" algn="just"/>
            <a:endParaRPr lang="en-US" sz="2400" dirty="0">
              <a:solidFill>
                <a:schemeClr val="tx2"/>
              </a:solidFill>
              <a:latin typeface="Consolas" panose="020B0609020204030204" pitchFamily="49" charset="0"/>
            </a:endParaRPr>
          </a:p>
          <a:p>
            <a:pPr lvl="3" algn="just"/>
            <a:r>
              <a:rPr lang="en-US" sz="2400" i="1" dirty="0">
                <a:solidFill>
                  <a:schemeClr val="tx2"/>
                </a:solidFill>
                <a:latin typeface="Consolas" panose="020B0609020204030204" pitchFamily="49" charset="0"/>
              </a:rPr>
              <a:t>Biases can for example be inherent in underlying data sets, especially when historical data is being used, or generated when the systems are implemented in real world settings. </a:t>
            </a:r>
          </a:p>
        </p:txBody>
      </p:sp>
    </p:spTree>
    <p:extLst>
      <p:ext uri="{BB962C8B-B14F-4D97-AF65-F5344CB8AC3E}">
        <p14:creationId xmlns:p14="http://schemas.microsoft.com/office/powerpoint/2010/main" val="2611441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5C65-8930-EB9A-3B76-A8C31300B298}"/>
              </a:ext>
            </a:extLst>
          </p:cNvPr>
          <p:cNvSpPr>
            <a:spLocks noGrp="1"/>
          </p:cNvSpPr>
          <p:nvPr>
            <p:ph type="title"/>
          </p:nvPr>
        </p:nvSpPr>
        <p:spPr/>
        <p:txBody>
          <a:bodyPr/>
          <a:lstStyle/>
          <a:p>
            <a:r>
              <a:rPr lang="en-US" dirty="0"/>
              <a:t>References 	</a:t>
            </a:r>
          </a:p>
        </p:txBody>
      </p:sp>
      <p:sp>
        <p:nvSpPr>
          <p:cNvPr id="3" name="Content Placeholder 2">
            <a:extLst>
              <a:ext uri="{FF2B5EF4-FFF2-40B4-BE49-F238E27FC236}">
                <a16:creationId xmlns:a16="http://schemas.microsoft.com/office/drawing/2014/main" id="{29A85C0B-2DA7-531A-1328-4835F9DC0F45}"/>
              </a:ext>
            </a:extLst>
          </p:cNvPr>
          <p:cNvSpPr>
            <a:spLocks noGrp="1"/>
          </p:cNvSpPr>
          <p:nvPr>
            <p:ph idx="1"/>
          </p:nvPr>
        </p:nvSpPr>
        <p:spPr/>
        <p:txBody>
          <a:bodyPr/>
          <a:lstStyle/>
          <a:p>
            <a:r>
              <a:rPr lang="en-US" b="0" i="0" dirty="0">
                <a:solidFill>
                  <a:srgbClr val="222222"/>
                </a:solidFill>
                <a:effectLst/>
                <a:latin typeface="Merriweather Sans" pitchFamily="2" charset="0"/>
              </a:rPr>
              <a:t>Guo, G. (2015). Gender Classification. In: Li, S.Z., Jain, A.K. (eds) Encyclopedia of Biometrics. Springer, Boston, MA. https://doi.org/10.1007/978-1-4899-7488-4_9176</a:t>
            </a:r>
            <a:endParaRPr lang="en-US" dirty="0"/>
          </a:p>
        </p:txBody>
      </p:sp>
    </p:spTree>
    <p:extLst>
      <p:ext uri="{BB962C8B-B14F-4D97-AF65-F5344CB8AC3E}">
        <p14:creationId xmlns:p14="http://schemas.microsoft.com/office/powerpoint/2010/main" val="11817501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525</Words>
  <Application>Microsoft Office PowerPoint</Application>
  <PresentationFormat>Custom</PresentationFormat>
  <Paragraphs>99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Consolas</vt:lpstr>
      <vt:lpstr>Merriweather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Company>Universiteit Leiden - ISSC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Mut Piña, A. (Antoni)</dc:creator>
  <cp:lastModifiedBy>Mut Piña, A. (Antoni)</cp:lastModifiedBy>
  <cp:revision>2</cp:revision>
  <dcterms:created xsi:type="dcterms:W3CDTF">2025-03-02T13:59:22Z</dcterms:created>
  <dcterms:modified xsi:type="dcterms:W3CDTF">2025-04-22T10:54:52Z</dcterms:modified>
</cp:coreProperties>
</file>